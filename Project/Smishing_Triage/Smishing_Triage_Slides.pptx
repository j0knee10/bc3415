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 · The problem" id="{1df44e04-c7cb-d010-813f-e2b40b079f24}">
          <p14:sldIdLst>
            <p14:sldId id="256"/>
            <p14:sldId id="257"/>
            <p14:sldId id="258"/>
            <p14:sldId id="259"/>
            <p14:sldId id="260"/>
          </p14:sldIdLst>
        </p14:section>
        <p14:section name="2 · Live demo" id="{95c94562-1ab8-18ff-211f-d75d9b770fb1}">
          <p14:sldIdLst>
            <p14:sldId id="261"/>
          </p14:sldIdLst>
        </p14:section>
        <p14:section name="3 · Human review" id="{e4d07062-8fc4-ceb0-a4f6-8bc19d36b8fb}">
          <p14:sldIdLst>
            <p14:sldId id="262"/>
            <p14:sldId id="263"/>
          </p14:sldIdLst>
        </p14:section>
        <p14:section name="4 · Two steps" id="{b1221bf3-e8de-e209-4280-abe2852de405}">
          <p14:sldIdLst>
            <p14:sldId id="264"/>
            <p14:sldId id="265"/>
          </p14:sldIdLst>
        </p14:section>
        <p14:section name="5 · Honest numbers" id="{5cbba45c-b27f-a0c6-6193-8ceb14a2344a}">
          <p14:sldIdLst>
            <p14:sldId id="266"/>
            <p14:sldId id="267"/>
          </p14:sldIdLst>
        </p14:section>
        <p14:section name="6 · Recommendation" id="{dbfb6e67-15b5-9bd2-fa22-3bcdf9e0cf62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[0:00] "Hi, I'm Jonathan. This is Smishing Triage, a scam checker for a Singapore bank's customers."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"Scams cost Singapore 913 million dollars last year, about 24,500 dollars a case, and over 9,000 cases began on WhatsApp or Telegram."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"Why would a bank pay for this? Since December 2024, under MAS's Shared Responsibility Framework, a phishing loss falls on the bank if it breached one of its anti-phishing duties, then on the telco for SMS scams, and otherwise on the customer. The checker doesn't move that liability, but fewer customers phished means less exposure and fewer disputes."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"A spam filter lumps marketing in with phishing, but one wastes three seconds and the other can empty an account. So there are three classes: legitimate, marketing spam, and smishing, which is phishing by text. The model is judged on scams caught, not accuracy."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[ends 0:55] "It follows the brief's pattern: a text verdict, an image channel, and a second stage that names the problem."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[0:55-2:10] LIVE DEMO - blank on purpose. Place the screen recording over this slide.
Telegram: https://t.me/bc3415_smishing_bot
1. Paste: Your DBS account is suspended. Verify at http://dbs-secure.co/login
Expect: Likely scam (98%), then the Gemini scam type.
"A fake DBS link. It's called a likely scam at 98%, and it shows the words that triggered that, so the customer learns what to look for next time. Below that, an LLM names the scam type: bank impersonation."
2. Paste: WIN a FREE iPhone! Txt WIN to 85233 now. T and Cs apply
Expect: Marketing / spam (99%).
"Marketing spam. Annoying, but not an alarm."
3. Paste: Eh you reaching already? I order first ah
Expect: No scam signals found (96%).
"A normal message. It never says 'safe', only 'no scam signals found'. A false all-clear is worse than no answer."
4. Paste: Hi mum this is my new number, my phone broke. Can you PayNow me $500 urgently
Expect: No scam signals found (95%), with 'a person should check it'.
"The hard case: a scam with no link. The model thinks it's legitimate, but there's a question mark. A person should check it. More on that in a moment."
5. Drag in Indiv/reports/mock_screenshot.png. Expect: Likely scam (88%).
"Screenshots work too. OCR reads the text, and then the same model judges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[2:10] "So where's the human? Not at a flat 'below 60% confidence' rule, because mistakes don't cost the same. A two-minute analyst review costs about S$1.67. A missed scam costs about S$67 in expected loss.
So when the bot would say 'no scam signals', a scam chance above 2.5% sends it to a person."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"'Hi mum' had a 4% scam chance, so it goes to review.
On the test set that's 10% of messages, including every scam the model missed. The S$67 is my least certain number, so the table shows every alternative."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[2:50] "Why a trained model first, and the LLM second? It saves tokens: only about a quarter of checks reach the LLM, so the bill drops from about 12 US dollars a year to 3. Trivial either way."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"The real savings are elsewhere. Speed: a fifth of a second, not 6 to 8. Privacy: unflagged messages never go to an AI provider. And a probability I can price for the review rule, which an LLM doesn't give me.
It isn't a funding question. If an LLM beats this model on local data, it can sit behind the same predict()."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[3:30] "How do I know these numbers are honest? My first version claimed 95%. But scam campaigns send near-identical copies, and my test set had copies of the training data. Now near-copies are grouped and kept on one side of the split."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"The honest result is 76% of scams caught. The interval is wide, 56 to 89%, because there are only 43 distinct campaigns. 0.2% of Singaporeans' personal chats are wrongly flagged. The model and its test figures rebuild from one config file and one command. 19 tests check it, including that the LLM gate holds."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[4:10] "My recommendation is that it's not ready for customers. It catches 60% of real local scams. It also flagged all 5 genuine bank and SingPost notices it saw, and that alone is a no-go. Both problems come from foreign training data."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"So the ask is a three-month pilot, about S$9,000: 5,000 to label local messages, and 4,000 of staff time to run the trial. It passes only if it catches 80% of local scams and flags at most 1% of the bank's real alerts. The running cost is people, not tokens: about S$10,000 to 14,000 a year of review time. Thank you."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[ends about 4:50] "Thank you." (Hold this slide for a second or two at the end.)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2044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</a:rPr>
              <a:t>BC3415 · INDIVIDUAL ASSIGNMENT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Smishing Triage</a:t>
            </a: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204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6"/>
                </a:solidFill>
              </a:rPr>
              <a:t>A scam checker for a Singapore bank’s customers</a:t>
            </a:r>
            <a:endParaRPr lang="en-US" sz="2600" dirty="0"/>
          </a:p>
        </p:txBody>
      </p:sp>
      <p:sp>
        <p:nvSpPr>
          <p:cNvPr id="5" name="Name"/>
          <p:cNvSpPr txBox="1"/>
          <p:nvPr/>
        </p:nvSpPr>
        <p:spPr>
          <a:xfrm>
            <a:off x="731520" y="5669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Jonathan Low</a:t>
            </a:r>
            <a:endParaRPr lang="en-US" sz="2000" dirty="0"/>
          </a:p>
        </p:txBody>
      </p:sp>
      <p:sp>
        <p:nvSpPr>
          <p:cNvPr id="6" name="Pill No scam signals"/>
          <p:cNvSpPr/>
          <p:nvPr/>
        </p:nvSpPr>
        <p:spPr>
          <a:xfrm>
            <a:off x="5989320" y="566928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22324A"/>
          </a:solidFill>
          <a:ln/>
        </p:spPr>
      </p:sp>
      <p:sp>
        <p:nvSpPr>
          <p:cNvPr id="7" name="Pill text No scam signals"/>
          <p:cNvSpPr txBox="1"/>
          <p:nvPr/>
        </p:nvSpPr>
        <p:spPr>
          <a:xfrm>
            <a:off x="5989320" y="5669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No scam signals</a:t>
            </a:r>
            <a:endParaRPr lang="en-US" sz="1500" dirty="0"/>
          </a:p>
        </p:txBody>
      </p:sp>
      <p:sp>
        <p:nvSpPr>
          <p:cNvPr id="8" name="Pill Marketing spam"/>
          <p:cNvSpPr/>
          <p:nvPr/>
        </p:nvSpPr>
        <p:spPr>
          <a:xfrm>
            <a:off x="8138160" y="566928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22324A"/>
          </a:solidFill>
          <a:ln/>
        </p:spPr>
      </p:sp>
      <p:sp>
        <p:nvSpPr>
          <p:cNvPr id="9" name="Pill text Marketing spam"/>
          <p:cNvSpPr txBox="1"/>
          <p:nvPr/>
        </p:nvSpPr>
        <p:spPr>
          <a:xfrm>
            <a:off x="8138160" y="5669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Marketing spam</a:t>
            </a:r>
            <a:endParaRPr lang="en-US" sz="1500" dirty="0"/>
          </a:p>
        </p:txBody>
      </p:sp>
      <p:sp>
        <p:nvSpPr>
          <p:cNvPr id="10" name="Pill Likely scam"/>
          <p:cNvSpPr/>
          <p:nvPr/>
        </p:nvSpPr>
        <p:spPr>
          <a:xfrm>
            <a:off x="10195560" y="566928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22324A"/>
          </a:solidFill>
          <a:ln/>
        </p:spPr>
      </p:sp>
      <p:sp>
        <p:nvSpPr>
          <p:cNvPr id="11" name="Pill text Likely scam"/>
          <p:cNvSpPr txBox="1"/>
          <p:nvPr/>
        </p:nvSpPr>
        <p:spPr>
          <a:xfrm>
            <a:off x="10195560" y="5669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Likely scam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1 · THE PROBLEM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Scams in Singapore, 2025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Source: Singapore Police Force, Annual Scam and Cybercrime Brief 2025</a:t>
            </a:r>
            <a:endParaRPr lang="en-US" sz="1100" dirty="0"/>
          </a:p>
        </p:txBody>
      </p:sp>
      <p:sp>
        <p:nvSpPr>
          <p:cNvPr id="5" name="Stat card 1"/>
          <p:cNvSpPr/>
          <p:nvPr/>
        </p:nvSpPr>
        <p:spPr>
          <a:xfrm>
            <a:off x="548640" y="2194560"/>
            <a:ext cx="3453689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6" name="Stat 1"/>
          <p:cNvSpPr txBox="1"/>
          <p:nvPr/>
        </p:nvSpPr>
        <p:spPr>
          <a:xfrm>
            <a:off x="914400" y="2560320"/>
            <a:ext cx="27221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S$913m</a:t>
            </a:r>
            <a:endParaRPr lang="en-US" sz="4800" dirty="0"/>
          </a:p>
        </p:txBody>
      </p:sp>
      <p:sp>
        <p:nvSpPr>
          <p:cNvPr id="7" name="Stat label 1"/>
          <p:cNvSpPr txBox="1"/>
          <p:nvPr/>
        </p:nvSpPr>
        <p:spPr>
          <a:xfrm>
            <a:off x="914400" y="3611880"/>
            <a:ext cx="272216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lost to scams last year</a:t>
            </a:r>
            <a:endParaRPr lang="en-US" sz="2000" dirty="0"/>
          </a:p>
        </p:txBody>
      </p:sp>
      <p:sp>
        <p:nvSpPr>
          <p:cNvPr id="8" name="Stat card 2"/>
          <p:cNvSpPr/>
          <p:nvPr/>
        </p:nvSpPr>
        <p:spPr>
          <a:xfrm>
            <a:off x="4368089" y="2194560"/>
            <a:ext cx="3453689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9" name="Stat 2"/>
          <p:cNvSpPr txBox="1"/>
          <p:nvPr/>
        </p:nvSpPr>
        <p:spPr>
          <a:xfrm>
            <a:off x="4733849" y="2560320"/>
            <a:ext cx="27221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S$24,500</a:t>
            </a:r>
            <a:endParaRPr lang="en-US" sz="4800" dirty="0"/>
          </a:p>
        </p:txBody>
      </p:sp>
      <p:sp>
        <p:nvSpPr>
          <p:cNvPr id="10" name="Stat label 2"/>
          <p:cNvSpPr txBox="1"/>
          <p:nvPr/>
        </p:nvSpPr>
        <p:spPr>
          <a:xfrm>
            <a:off x="4733849" y="3611880"/>
            <a:ext cx="272216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average loss per case (37,308 cases)</a:t>
            </a:r>
            <a:endParaRPr lang="en-US" sz="2000" dirty="0"/>
          </a:p>
        </p:txBody>
      </p:sp>
      <p:sp>
        <p:nvSpPr>
          <p:cNvPr id="11" name="Stat card 3"/>
          <p:cNvSpPr/>
          <p:nvPr/>
        </p:nvSpPr>
        <p:spPr>
          <a:xfrm>
            <a:off x="8187538" y="2194560"/>
            <a:ext cx="3453689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2" name="Stat 3"/>
          <p:cNvSpPr txBox="1"/>
          <p:nvPr/>
        </p:nvSpPr>
        <p:spPr>
          <a:xfrm>
            <a:off x="8553298" y="2560320"/>
            <a:ext cx="27221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9,000+</a:t>
            </a:r>
            <a:endParaRPr lang="en-US" sz="4800" dirty="0"/>
          </a:p>
        </p:txBody>
      </p:sp>
      <p:sp>
        <p:nvSpPr>
          <p:cNvPr id="13" name="Stat label 3"/>
          <p:cNvSpPr txBox="1"/>
          <p:nvPr/>
        </p:nvSpPr>
        <p:spPr>
          <a:xfrm>
            <a:off x="8553298" y="3611880"/>
            <a:ext cx="272216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cases began on WhatsApp or Telegram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1 · THE PROBLEM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a bank would pay for this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Source: MAS and IMDA, Guidelines on Shared Responsibility Framework, effective 16 December 2024, paragraphs 6.2–6.7.</a:t>
            </a:r>
            <a:endParaRPr lang="en-US" sz="11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The Shared Responsibility Framework decides who bears a phishing loss, in this order:</a:t>
            </a:r>
            <a:endParaRPr lang="en-US" sz="1800" dirty="0"/>
          </a:p>
        </p:txBody>
      </p:sp>
      <p:sp>
        <p:nvSpPr>
          <p:cNvPr id="6" name="Tier card 1"/>
          <p:cNvSpPr/>
          <p:nvPr/>
        </p:nvSpPr>
        <p:spPr>
          <a:xfrm>
            <a:off x="548640" y="2103120"/>
            <a:ext cx="3239719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7" name="Tier number 1"/>
          <p:cNvSpPr/>
          <p:nvPr/>
        </p:nvSpPr>
        <p:spPr>
          <a:xfrm>
            <a:off x="914400" y="2468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ier number text 1"/>
          <p:cNvSpPr txBox="1"/>
          <p:nvPr/>
        </p:nvSpPr>
        <p:spPr>
          <a:xfrm>
            <a:off x="9144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ier head 1"/>
          <p:cNvSpPr txBox="1"/>
          <p:nvPr/>
        </p:nvSpPr>
        <p:spPr>
          <a:xfrm>
            <a:off x="914400" y="3200400"/>
            <a:ext cx="2508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bank</a:t>
            </a:r>
            <a:endParaRPr lang="en-US" sz="2400" dirty="0"/>
          </a:p>
        </p:txBody>
      </p:sp>
      <p:sp>
        <p:nvSpPr>
          <p:cNvPr id="10" name="Tier body 1"/>
          <p:cNvSpPr txBox="1"/>
          <p:nvPr/>
        </p:nvSpPr>
        <p:spPr>
          <a:xfrm>
            <a:off x="914400" y="3703320"/>
            <a:ext cx="2508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if it breached one of its anti-phishing duties</a:t>
            </a:r>
            <a:endParaRPr lang="en-US" sz="1700" dirty="0"/>
          </a:p>
        </p:txBody>
      </p:sp>
      <p:sp>
        <p:nvSpPr>
          <p:cNvPr id="11" name="Tier arrow 1"/>
          <p:cNvSpPr/>
          <p:nvPr/>
        </p:nvSpPr>
        <p:spPr>
          <a:xfrm>
            <a:off x="3925519" y="3172968"/>
            <a:ext cx="411480" cy="329184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2" name="Tier card 2"/>
          <p:cNvSpPr/>
          <p:nvPr/>
        </p:nvSpPr>
        <p:spPr>
          <a:xfrm>
            <a:off x="4474159" y="2103120"/>
            <a:ext cx="3239719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3" name="Tier number 2"/>
          <p:cNvSpPr/>
          <p:nvPr/>
        </p:nvSpPr>
        <p:spPr>
          <a:xfrm>
            <a:off x="4839919" y="2468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Tier number text 2"/>
          <p:cNvSpPr txBox="1"/>
          <p:nvPr/>
        </p:nvSpPr>
        <p:spPr>
          <a:xfrm>
            <a:off x="4839919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ier head 2"/>
          <p:cNvSpPr txBox="1"/>
          <p:nvPr/>
        </p:nvSpPr>
        <p:spPr>
          <a:xfrm>
            <a:off x="4839919" y="3200400"/>
            <a:ext cx="2508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telco</a:t>
            </a:r>
            <a:endParaRPr lang="en-US" sz="2400" dirty="0"/>
          </a:p>
        </p:txBody>
      </p:sp>
      <p:sp>
        <p:nvSpPr>
          <p:cNvPr id="16" name="Tier body 2"/>
          <p:cNvSpPr txBox="1"/>
          <p:nvPr/>
        </p:nvSpPr>
        <p:spPr>
          <a:xfrm>
            <a:off x="4839919" y="3703320"/>
            <a:ext cx="2508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next, for scams sent by SMS</a:t>
            </a:r>
            <a:endParaRPr lang="en-US" sz="1700" dirty="0"/>
          </a:p>
        </p:txBody>
      </p:sp>
      <p:sp>
        <p:nvSpPr>
          <p:cNvPr id="17" name="Tier arrow 2"/>
          <p:cNvSpPr/>
          <p:nvPr/>
        </p:nvSpPr>
        <p:spPr>
          <a:xfrm>
            <a:off x="7851038" y="3172968"/>
            <a:ext cx="411480" cy="329184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8" name="Tier card 3"/>
          <p:cNvSpPr/>
          <p:nvPr/>
        </p:nvSpPr>
        <p:spPr>
          <a:xfrm>
            <a:off x="8399678" y="2103120"/>
            <a:ext cx="3239719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9" name="Tier number 3"/>
          <p:cNvSpPr/>
          <p:nvPr/>
        </p:nvSpPr>
        <p:spPr>
          <a:xfrm>
            <a:off x="8765438" y="24688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ier number text 3"/>
          <p:cNvSpPr txBox="1"/>
          <p:nvPr/>
        </p:nvSpPr>
        <p:spPr>
          <a:xfrm>
            <a:off x="8765438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ier head 3"/>
          <p:cNvSpPr txBox="1"/>
          <p:nvPr/>
        </p:nvSpPr>
        <p:spPr>
          <a:xfrm>
            <a:off x="8765438" y="3200400"/>
            <a:ext cx="2508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customer</a:t>
            </a:r>
            <a:endParaRPr lang="en-US" sz="2400" dirty="0"/>
          </a:p>
        </p:txBody>
      </p:sp>
      <p:sp>
        <p:nvSpPr>
          <p:cNvPr id="22" name="Tier body 3"/>
          <p:cNvSpPr txBox="1"/>
          <p:nvPr/>
        </p:nvSpPr>
        <p:spPr>
          <a:xfrm>
            <a:off x="8765438" y="3703320"/>
            <a:ext cx="2508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otherwise</a:t>
            </a:r>
            <a:endParaRPr lang="en-US" sz="1700" dirty="0"/>
          </a:p>
        </p:txBody>
      </p:sp>
      <p:sp>
        <p:nvSpPr>
          <p:cNvPr id="23" name="Liability callout"/>
          <p:cNvSpPr/>
          <p:nvPr/>
        </p:nvSpPr>
        <p:spPr>
          <a:xfrm>
            <a:off x="548640" y="493776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24" name="Liability callout text"/>
          <p:cNvSpPr txBox="1"/>
          <p:nvPr/>
        </p:nvSpPr>
        <p:spPr>
          <a:xfrm>
            <a:off x="868680" y="4937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The checker doesn’t move that liability.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But fewer customers phished means less exposure and fewer disputes.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1 · THE PROBLEM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Three classes, judged on scams caught</a:t>
            </a:r>
            <a:endParaRPr lang="en-US" sz="3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 two-class spam filter puts marketing and phishing in the same bin.</a:t>
            </a:r>
            <a:endParaRPr lang="en-US" sz="1800" dirty="0"/>
          </a:p>
        </p:txBody>
      </p:sp>
      <p:sp>
        <p:nvSpPr>
          <p:cNvPr id="5" name="Class card 1"/>
          <p:cNvSpPr/>
          <p:nvPr/>
        </p:nvSpPr>
        <p:spPr>
          <a:xfrm>
            <a:off x="548640" y="2194560"/>
            <a:ext cx="3453689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6" name="Class dot 1"/>
          <p:cNvSpPr/>
          <p:nvPr/>
        </p:nvSpPr>
        <p:spPr>
          <a:xfrm>
            <a:off x="914400" y="25603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Class name 1"/>
          <p:cNvSpPr txBox="1"/>
          <p:nvPr/>
        </p:nvSpPr>
        <p:spPr>
          <a:xfrm>
            <a:off x="914400" y="3246120"/>
            <a:ext cx="27221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Legitimate</a:t>
            </a:r>
            <a:endParaRPr lang="en-US" sz="2800" dirty="0"/>
          </a:p>
        </p:txBody>
      </p:sp>
      <p:sp>
        <p:nvSpPr>
          <p:cNvPr id="8" name="Class description 1"/>
          <p:cNvSpPr txBox="1"/>
          <p:nvPr/>
        </p:nvSpPr>
        <p:spPr>
          <a:xfrm>
            <a:off x="914400" y="3794760"/>
            <a:ext cx="27221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Ordinary messages</a:t>
            </a:r>
            <a:endParaRPr lang="en-US" sz="2000" dirty="0"/>
          </a:p>
        </p:txBody>
      </p:sp>
      <p:sp>
        <p:nvSpPr>
          <p:cNvPr id="9" name="Class card 2"/>
          <p:cNvSpPr/>
          <p:nvPr/>
        </p:nvSpPr>
        <p:spPr>
          <a:xfrm>
            <a:off x="4368089" y="2194560"/>
            <a:ext cx="3453689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0" name="Class dot 2"/>
          <p:cNvSpPr/>
          <p:nvPr/>
        </p:nvSpPr>
        <p:spPr>
          <a:xfrm>
            <a:off x="4733849" y="25603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Class name 2"/>
          <p:cNvSpPr txBox="1"/>
          <p:nvPr/>
        </p:nvSpPr>
        <p:spPr>
          <a:xfrm>
            <a:off x="4733849" y="3246120"/>
            <a:ext cx="27221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Marketing spam</a:t>
            </a:r>
            <a:endParaRPr lang="en-US" sz="2800" dirty="0"/>
          </a:p>
        </p:txBody>
      </p:sp>
      <p:sp>
        <p:nvSpPr>
          <p:cNvPr id="12" name="Class description 2"/>
          <p:cNvSpPr txBox="1"/>
          <p:nvPr/>
        </p:nvSpPr>
        <p:spPr>
          <a:xfrm>
            <a:off x="4733849" y="3794760"/>
            <a:ext cx="27221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Wastes three seconds</a:t>
            </a:r>
            <a:endParaRPr lang="en-US" sz="2000" dirty="0"/>
          </a:p>
        </p:txBody>
      </p:sp>
      <p:sp>
        <p:nvSpPr>
          <p:cNvPr id="13" name="Class card 3"/>
          <p:cNvSpPr/>
          <p:nvPr/>
        </p:nvSpPr>
        <p:spPr>
          <a:xfrm>
            <a:off x="8187538" y="2194560"/>
            <a:ext cx="3453689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4" name="Class dot 3"/>
          <p:cNvSpPr/>
          <p:nvPr/>
        </p:nvSpPr>
        <p:spPr>
          <a:xfrm>
            <a:off x="8553298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Class name 3"/>
          <p:cNvSpPr txBox="1"/>
          <p:nvPr/>
        </p:nvSpPr>
        <p:spPr>
          <a:xfrm>
            <a:off x="8553298" y="3246120"/>
            <a:ext cx="27221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Smishing</a:t>
            </a:r>
            <a:endParaRPr lang="en-US" sz="2800" dirty="0"/>
          </a:p>
        </p:txBody>
      </p:sp>
      <p:sp>
        <p:nvSpPr>
          <p:cNvPr id="16" name="Class description 3"/>
          <p:cNvSpPr txBox="1"/>
          <p:nvPr/>
        </p:nvSpPr>
        <p:spPr>
          <a:xfrm>
            <a:off x="8553298" y="3794760"/>
            <a:ext cx="27221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Phishing by text: can empty an account</a:t>
            </a:r>
            <a:endParaRPr lang="en-US" sz="2000" dirty="0"/>
          </a:p>
        </p:txBody>
      </p:sp>
      <p:sp>
        <p:nvSpPr>
          <p:cNvPr id="17" name="Metric callout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/>
        </p:spPr>
      </p:sp>
      <p:sp>
        <p:nvSpPr>
          <p:cNvPr id="18" name="Metric callout text"/>
          <p:cNvSpPr txBox="1"/>
          <p:nvPr/>
        </p:nvSpPr>
        <p:spPr>
          <a:xfrm>
            <a:off x="868680" y="5074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Headline metric: </a:t>
            </a:r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share of scams caught</a:t>
            </a:r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, not accuracy</a:t>
            </a:r>
            <a:endParaRPr lang="en-US" sz="2400" dirty="0"/>
          </a:p>
        </p:txBody>
      </p:sp>
      <p:sp>
        <p:nvSpPr>
          <p:cNvPr id="20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1 · THE PROBLEM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It follows the brief’s pattern</a:t>
            </a:r>
            <a:endParaRPr lang="en-US" sz="3400" dirty="0"/>
          </a:p>
        </p:txBody>
      </p:sp>
      <p:sp>
        <p:nvSpPr>
          <p:cNvPr id="4" name="Step card 1"/>
          <p:cNvSpPr/>
          <p:nvPr/>
        </p:nvSpPr>
        <p:spPr>
          <a:xfrm>
            <a:off x="548640" y="2194560"/>
            <a:ext cx="3239719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Step number 1"/>
          <p:cNvSpPr/>
          <p:nvPr/>
        </p:nvSpPr>
        <p:spPr>
          <a:xfrm>
            <a:off x="914400" y="2560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tep number text 1"/>
          <p:cNvSpPr txBox="1"/>
          <p:nvPr/>
        </p:nvSpPr>
        <p:spPr>
          <a:xfrm>
            <a:off x="9144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Step head 1"/>
          <p:cNvSpPr txBox="1"/>
          <p:nvPr/>
        </p:nvSpPr>
        <p:spPr>
          <a:xfrm>
            <a:off x="914400" y="3337560"/>
            <a:ext cx="2508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Text verdict</a:t>
            </a:r>
            <a:endParaRPr lang="en-US" sz="2400" dirty="0"/>
          </a:p>
        </p:txBody>
      </p:sp>
      <p:sp>
        <p:nvSpPr>
          <p:cNvPr id="8" name="Step body 1"/>
          <p:cNvSpPr txBox="1"/>
          <p:nvPr/>
        </p:nvSpPr>
        <p:spPr>
          <a:xfrm>
            <a:off x="914400" y="3886200"/>
            <a:ext cx="25081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Legitimate, spam or scam</a:t>
            </a:r>
            <a:endParaRPr lang="en-US" sz="1700" dirty="0"/>
          </a:p>
        </p:txBody>
      </p:sp>
      <p:sp>
        <p:nvSpPr>
          <p:cNvPr id="9" name="Step arrow 1"/>
          <p:cNvSpPr/>
          <p:nvPr/>
        </p:nvSpPr>
        <p:spPr>
          <a:xfrm>
            <a:off x="3925519" y="3401568"/>
            <a:ext cx="411480" cy="329184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0" name="Step card 2"/>
          <p:cNvSpPr/>
          <p:nvPr/>
        </p:nvSpPr>
        <p:spPr>
          <a:xfrm>
            <a:off x="4474159" y="2194560"/>
            <a:ext cx="3239719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1" name="Step number 2"/>
          <p:cNvSpPr/>
          <p:nvPr/>
        </p:nvSpPr>
        <p:spPr>
          <a:xfrm>
            <a:off x="4839919" y="2560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tep number text 2"/>
          <p:cNvSpPr txBox="1"/>
          <p:nvPr/>
        </p:nvSpPr>
        <p:spPr>
          <a:xfrm>
            <a:off x="4839919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Step head 2"/>
          <p:cNvSpPr txBox="1"/>
          <p:nvPr/>
        </p:nvSpPr>
        <p:spPr>
          <a:xfrm>
            <a:off x="4839919" y="3337560"/>
            <a:ext cx="2508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Image channel</a:t>
            </a:r>
            <a:endParaRPr lang="en-US" sz="2400" dirty="0"/>
          </a:p>
        </p:txBody>
      </p:sp>
      <p:sp>
        <p:nvSpPr>
          <p:cNvPr id="14" name="Step body 2"/>
          <p:cNvSpPr txBox="1"/>
          <p:nvPr/>
        </p:nvSpPr>
        <p:spPr>
          <a:xfrm>
            <a:off x="4839919" y="3886200"/>
            <a:ext cx="25081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Forward a screenshot instead</a:t>
            </a:r>
            <a:endParaRPr lang="en-US" sz="1700" dirty="0"/>
          </a:p>
        </p:txBody>
      </p:sp>
      <p:sp>
        <p:nvSpPr>
          <p:cNvPr id="15" name="Step arrow 2"/>
          <p:cNvSpPr/>
          <p:nvPr/>
        </p:nvSpPr>
        <p:spPr>
          <a:xfrm>
            <a:off x="7851038" y="3401568"/>
            <a:ext cx="411480" cy="329184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6" name="Step card 3"/>
          <p:cNvSpPr/>
          <p:nvPr/>
        </p:nvSpPr>
        <p:spPr>
          <a:xfrm>
            <a:off x="8399678" y="2194560"/>
            <a:ext cx="3239719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7" name="Step number 3"/>
          <p:cNvSpPr/>
          <p:nvPr/>
        </p:nvSpPr>
        <p:spPr>
          <a:xfrm>
            <a:off x="8765438" y="2560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Step number text 3"/>
          <p:cNvSpPr txBox="1"/>
          <p:nvPr/>
        </p:nvSpPr>
        <p:spPr>
          <a:xfrm>
            <a:off x="8765438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Step head 3"/>
          <p:cNvSpPr txBox="1"/>
          <p:nvPr/>
        </p:nvSpPr>
        <p:spPr>
          <a:xfrm>
            <a:off x="8765438" y="3337560"/>
            <a:ext cx="2508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Second stage</a:t>
            </a:r>
            <a:endParaRPr lang="en-US" sz="2400" dirty="0"/>
          </a:p>
        </p:txBody>
      </p:sp>
      <p:sp>
        <p:nvSpPr>
          <p:cNvPr id="20" name="Step body 3"/>
          <p:cNvSpPr txBox="1"/>
          <p:nvPr/>
        </p:nvSpPr>
        <p:spPr>
          <a:xfrm>
            <a:off x="8765438" y="3886200"/>
            <a:ext cx="25081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Names the problem: the scam type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3 · WHERE THE HUMAN IS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review line is set by cost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S$67 ≈ S$24,500 average loss × about 1 in 370 missed scams becoming a loss. config.yaml: review cost 0.5 against 20 for a missed scam.</a:t>
            </a:r>
            <a:endParaRPr lang="en-US" sz="11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Not a flat “below 60% confidence” rule: mistakes don’t cost the same.</a:t>
            </a:r>
            <a:endParaRPr lang="en-US" sz="1800" dirty="0"/>
          </a:p>
        </p:txBody>
      </p:sp>
      <p:sp>
        <p:nvSpPr>
          <p:cNvPr id="6" name="Cost card 1"/>
          <p:cNvSpPr/>
          <p:nvPr/>
        </p:nvSpPr>
        <p:spPr>
          <a:xfrm>
            <a:off x="548640" y="2514600"/>
            <a:ext cx="3270809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7" name="Cost number 1"/>
          <p:cNvSpPr txBox="1"/>
          <p:nvPr/>
        </p:nvSpPr>
        <p:spPr>
          <a:xfrm>
            <a:off x="914400" y="2880360"/>
            <a:ext cx="25392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S$1.67</a:t>
            </a:r>
            <a:endParaRPr lang="en-US" sz="4800" dirty="0"/>
          </a:p>
        </p:txBody>
      </p:sp>
      <p:sp>
        <p:nvSpPr>
          <p:cNvPr id="8" name="Cost label 1"/>
          <p:cNvSpPr txBox="1"/>
          <p:nvPr/>
        </p:nvSpPr>
        <p:spPr>
          <a:xfrm>
            <a:off x="914400" y="3794760"/>
            <a:ext cx="25392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 two-minute analyst review</a:t>
            </a:r>
            <a:endParaRPr lang="en-US" sz="1800" dirty="0"/>
          </a:p>
        </p:txBody>
      </p:sp>
      <p:sp>
        <p:nvSpPr>
          <p:cNvPr id="9" name="Cost card 2"/>
          <p:cNvSpPr/>
          <p:nvPr/>
        </p:nvSpPr>
        <p:spPr>
          <a:xfrm>
            <a:off x="4459529" y="2514600"/>
            <a:ext cx="3270809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0" name="Cost number 2"/>
          <p:cNvSpPr txBox="1"/>
          <p:nvPr/>
        </p:nvSpPr>
        <p:spPr>
          <a:xfrm>
            <a:off x="4825289" y="2880360"/>
            <a:ext cx="25392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S$67</a:t>
            </a:r>
            <a:endParaRPr lang="en-US" sz="4800" dirty="0"/>
          </a:p>
        </p:txBody>
      </p:sp>
      <p:sp>
        <p:nvSpPr>
          <p:cNvPr id="11" name="Cost label 2"/>
          <p:cNvSpPr txBox="1"/>
          <p:nvPr/>
        </p:nvSpPr>
        <p:spPr>
          <a:xfrm>
            <a:off x="4825289" y="3794760"/>
            <a:ext cx="25392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expected loss from a missed scam</a:t>
            </a:r>
            <a:endParaRPr lang="en-US" sz="1800" dirty="0"/>
          </a:p>
        </p:txBody>
      </p:sp>
      <p:sp>
        <p:nvSpPr>
          <p:cNvPr id="12" name="Cost card 3"/>
          <p:cNvSpPr/>
          <p:nvPr/>
        </p:nvSpPr>
        <p:spPr>
          <a:xfrm>
            <a:off x="8370418" y="2514600"/>
            <a:ext cx="3270809" cy="2514600"/>
          </a:xfrm>
          <a:prstGeom prst="roundRect">
            <a:avLst>
              <a:gd name="adj" fmla="val 4364"/>
            </a:avLst>
          </a:prstGeom>
          <a:solidFill>
            <a:schemeClr val="accent2"/>
          </a:solidFill>
          <a:ln/>
        </p:spPr>
      </p:sp>
      <p:sp>
        <p:nvSpPr>
          <p:cNvPr id="13" name="Cost number 3"/>
          <p:cNvSpPr txBox="1"/>
          <p:nvPr/>
        </p:nvSpPr>
        <p:spPr>
          <a:xfrm>
            <a:off x="8736178" y="2880360"/>
            <a:ext cx="25392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2.5%</a:t>
            </a:r>
            <a:endParaRPr lang="en-US" sz="4800" dirty="0"/>
          </a:p>
        </p:txBody>
      </p:sp>
      <p:sp>
        <p:nvSpPr>
          <p:cNvPr id="14" name="Cost label 3"/>
          <p:cNvSpPr txBox="1"/>
          <p:nvPr/>
        </p:nvSpPr>
        <p:spPr>
          <a:xfrm>
            <a:off x="8736178" y="3794760"/>
            <a:ext cx="25392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scam chance that sends a “no scam signals” reply to a person</a:t>
            </a:r>
            <a:endParaRPr lang="en-US" sz="1800" dirty="0"/>
          </a:p>
        </p:txBody>
      </p:sp>
      <p:sp>
        <p:nvSpPr>
          <p:cNvPr id="15" name="Operator ÷"/>
          <p:cNvSpPr txBox="1"/>
          <p:nvPr/>
        </p:nvSpPr>
        <p:spPr>
          <a:xfrm>
            <a:off x="3819449" y="2514600"/>
            <a:ext cx="6400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÷</a:t>
            </a:r>
            <a:endParaRPr lang="en-US" sz="4000" dirty="0"/>
          </a:p>
        </p:txBody>
      </p:sp>
      <p:sp>
        <p:nvSpPr>
          <p:cNvPr id="16" name="Operator ="/>
          <p:cNvSpPr txBox="1"/>
          <p:nvPr/>
        </p:nvSpPr>
        <p:spPr>
          <a:xfrm>
            <a:off x="7730338" y="2514600"/>
            <a:ext cx="6400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=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3 · WHERE THE HUMAN IS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10% reviewed, including every missed scam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Source: reports/human_review.csv (test set); review costs 0.14 / 0.5 / 1.0 / 2.0 against 20 for a missed scam, with a review fixed at S$1.67.</a:t>
            </a:r>
            <a:endParaRPr lang="en-US" sz="1100" dirty="0"/>
          </a:p>
        </p:txBody>
      </p:sp>
      <p:sp>
        <p:nvSpPr>
          <p:cNvPr id="5" name="Hard case label"/>
          <p:cNvSpPr txBox="1"/>
          <p:nvPr/>
        </p:nvSpPr>
        <p:spPr>
          <a:xfrm>
            <a:off x="54864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THE HARD CASE</a:t>
            </a:r>
            <a:endParaRPr lang="en-US" sz="1300" dirty="0"/>
          </a:p>
        </p:txBody>
      </p:sp>
      <p:sp>
        <p:nvSpPr>
          <p:cNvPr id="6" name="Message bubble"/>
          <p:cNvSpPr/>
          <p:nvPr/>
        </p:nvSpPr>
        <p:spPr>
          <a:xfrm>
            <a:off x="548640" y="2194560"/>
            <a:ext cx="51206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7" name="Message text"/>
          <p:cNvSpPr txBox="1"/>
          <p:nvPr/>
        </p:nvSpPr>
        <p:spPr>
          <a:xfrm>
            <a:off x="777240" y="219456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 mum this is my new number, my phone broke. Can you PayNow me $500 urgently</a:t>
            </a:r>
            <a:endParaRPr lang="en-US" sz="1600" dirty="0"/>
          </a:p>
        </p:txBody>
      </p:sp>
      <p:sp>
        <p:nvSpPr>
          <p:cNvPr id="8" name="Reply bubble"/>
          <p:cNvSpPr/>
          <p:nvPr/>
        </p:nvSpPr>
        <p:spPr>
          <a:xfrm>
            <a:off x="548640" y="3520440"/>
            <a:ext cx="512064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</p:sp>
      <p:sp>
        <p:nvSpPr>
          <p:cNvPr id="9" name="Reply text"/>
          <p:cNvSpPr txBox="1"/>
          <p:nvPr/>
        </p:nvSpPr>
        <p:spPr>
          <a:xfrm>
            <a:off x="777240" y="35204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❔ No scam signals found (95%)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🔎 A person should check it.</a:t>
            </a:r>
            <a:endParaRPr lang="en-US" sz="1700" dirty="0"/>
          </a:p>
        </p:txBody>
      </p:sp>
      <p:sp>
        <p:nvSpPr>
          <p:cNvPr id="10" name="Hard case result"/>
          <p:cNvSpPr txBox="1"/>
          <p:nvPr/>
        </p:nvSpPr>
        <p:spPr>
          <a:xfrm>
            <a:off x="548640" y="4754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Scam chance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4%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, above the 2.5% line, so it goes to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review</a:t>
            </a:r>
            <a:endParaRPr lang="en-US" sz="1800" dirty="0"/>
          </a:p>
        </p:txBody>
      </p:sp>
      <p:graphicFrame>
        <p:nvGraphicFramePr>
          <p:cNvPr id="9" name="Review co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194560"/>
          <a:ext cx="55138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19476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If a missed scam costs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Messages reviewed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Missed scams reviewed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S$240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42.7%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26 of 26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S$67 (used)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10.0%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26 of 26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S$33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5.2%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 of 26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S$17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4.0%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22 of 26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able caption"/>
          <p:cNvSpPr txBox="1"/>
          <p:nvPr/>
        </p:nvSpPr>
        <p:spPr>
          <a:xfrm>
            <a:off x="6126480" y="4754880"/>
            <a:ext cx="5513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S$67 is the least certain number, so every alternative is shown.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4 · TWO STEPS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trained model first, the LLM second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50,000 checks a year (writeup section 1). Measured 24 Oct: 123 input + 78 output tokens per Gemini call, at US$0.30 / US$2.50 per million tokens.</a:t>
            </a:r>
            <a:endParaRPr lang="en-US" sz="1100" dirty="0"/>
          </a:p>
        </p:txBody>
      </p:sp>
      <p:sp>
        <p:nvSpPr>
          <p:cNvPr id="5" name="Classifier card"/>
          <p:cNvSpPr/>
          <p:nvPr/>
        </p:nvSpPr>
        <p:spPr>
          <a:xfrm>
            <a:off x="548640" y="1828800"/>
            <a:ext cx="42062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6" name="Classifier label"/>
          <p:cNvSpPr txBox="1"/>
          <p:nvPr/>
        </p:nvSpPr>
        <p:spPr>
          <a:xfrm>
            <a:off x="86868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1 · EVERY CHECK</a:t>
            </a:r>
            <a:endParaRPr lang="en-US" sz="1300" dirty="0"/>
          </a:p>
        </p:txBody>
      </p:sp>
      <p:sp>
        <p:nvSpPr>
          <p:cNvPr id="7" name="Classifier head"/>
          <p:cNvSpPr txBox="1"/>
          <p:nvPr/>
        </p:nvSpPr>
        <p:spPr>
          <a:xfrm>
            <a:off x="86868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Trained classifier</a:t>
            </a:r>
            <a:endParaRPr lang="en-US" sz="2600" dirty="0"/>
          </a:p>
        </p:txBody>
      </p:sp>
      <p:sp>
        <p:nvSpPr>
          <p:cNvPr id="8" name="Gate arrow"/>
          <p:cNvSpPr/>
          <p:nvPr/>
        </p:nvSpPr>
        <p:spPr>
          <a:xfrm>
            <a:off x="5257800" y="2487168"/>
            <a:ext cx="1645920" cy="5029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Gate label"/>
          <p:cNvSpPr txBox="1"/>
          <p:nvPr/>
        </p:nvSpPr>
        <p:spPr>
          <a:xfrm>
            <a:off x="493776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only if flagged as a scam</a:t>
            </a:r>
            <a:endParaRPr lang="en-US" sz="1500" dirty="0"/>
          </a:p>
        </p:txBody>
      </p:sp>
      <p:sp>
        <p:nvSpPr>
          <p:cNvPr id="10" name="LLM card"/>
          <p:cNvSpPr/>
          <p:nvPr/>
        </p:nvSpPr>
        <p:spPr>
          <a:xfrm>
            <a:off x="7406640" y="1828800"/>
            <a:ext cx="4233672" cy="18288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/>
        </p:spPr>
      </p:sp>
      <p:sp>
        <p:nvSpPr>
          <p:cNvPr id="11" name="LLM label"/>
          <p:cNvSpPr txBox="1"/>
          <p:nvPr/>
        </p:nvSpPr>
        <p:spPr>
          <a:xfrm>
            <a:off x="772668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2 · ABOUT 1 IN 4 CHECKS</a:t>
            </a:r>
            <a:endParaRPr lang="en-US" sz="1300" dirty="0"/>
          </a:p>
        </p:txBody>
      </p:sp>
      <p:sp>
        <p:nvSpPr>
          <p:cNvPr id="12" name="LLM head"/>
          <p:cNvSpPr txBox="1"/>
          <p:nvPr/>
        </p:nvSpPr>
        <p:spPr>
          <a:xfrm>
            <a:off x="772668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The LLM (Gemini)</a:t>
            </a:r>
            <a:endParaRPr lang="en-US" sz="2600" dirty="0"/>
          </a:p>
        </p:txBody>
      </p:sp>
      <p:sp>
        <p:nvSpPr>
          <p:cNvPr id="13" name="Token card"/>
          <p:cNvSpPr/>
          <p:nvPr/>
        </p:nvSpPr>
        <p:spPr>
          <a:xfrm>
            <a:off x="548640" y="4023360"/>
            <a:ext cx="1109167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4" name="Token label"/>
          <p:cNvSpPr txBox="1"/>
          <p:nvPr/>
        </p:nvSpPr>
        <p:spPr>
          <a:xfrm>
            <a:off x="86868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TOKEN BILL, 50,000 CHECKS A YEAR (APPROXIMATE)</a:t>
            </a:r>
            <a:endParaRPr lang="en-US" sz="1300" dirty="0"/>
          </a:p>
        </p:txBody>
      </p:sp>
      <p:sp>
        <p:nvSpPr>
          <p:cNvPr id="15" name="Token numbers"/>
          <p:cNvSpPr txBox="1"/>
          <p:nvPr/>
        </p:nvSpPr>
        <p:spPr>
          <a:xfrm>
            <a:off x="868680" y="47091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US$12</a:t>
            </a:r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→  </a:t>
            </a:r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US$3</a:t>
            </a:r>
            <a:endParaRPr lang="en-US" sz="4400" dirty="0"/>
          </a:p>
        </p:txBody>
      </p:sp>
      <p:sp>
        <p:nvSpPr>
          <p:cNvPr id="16" name="Token note"/>
          <p:cNvSpPr txBox="1"/>
          <p:nvPr/>
        </p:nvSpPr>
        <p:spPr>
          <a:xfrm>
            <a:off x="7726680" y="4709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tx2"/>
                </a:solidFill>
              </a:rPr>
              <a:t>Trivial either way.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4 · TWO STEPS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real savings are elsewhere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Timings measured 24 Oct: predict() with LIME 0.01–0.16 s; one Gemini call 6–8 s.</a:t>
            </a:r>
            <a:endParaRPr lang="en-US" sz="1100" dirty="0"/>
          </a:p>
        </p:txBody>
      </p:sp>
      <p:graphicFrame>
        <p:nvGraphicFramePr>
          <p:cNvPr id="11" name="Gate saving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LLM on every check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Model first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Speed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6–8 seconds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about a fifth of a second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Privacy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every message goes to an AI provider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unflagged messages never do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Review rule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no probability to price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 probability it can price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Funding callout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/>
        </p:spPr>
      </p:sp>
      <p:sp>
        <p:nvSpPr>
          <p:cNvPr id="7" name="Funding callout text"/>
          <p:cNvSpPr txBox="1"/>
          <p:nvPr/>
        </p:nvSpPr>
        <p:spPr>
          <a:xfrm>
            <a:off x="868680" y="4983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Not a funding question: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if an LLM beats this model on local data, it can sit behind the same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predict()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5 · WHY THE NUMBERS ARE HONEST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My first version claimed 95%</a:t>
            </a:r>
            <a:endParaRPr lang="en-US" sz="3400" dirty="0"/>
          </a:p>
        </p:txBody>
      </p:sp>
      <p:sp>
        <p:nvSpPr>
          <p:cNvPr id="4" name="BEFORE panel"/>
          <p:cNvSpPr/>
          <p:nvPr/>
        </p:nvSpPr>
        <p:spPr>
          <a:xfrm>
            <a:off x="548640" y="1783080"/>
            <a:ext cx="5394960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5" name="BEFORE label"/>
          <p:cNvSpPr txBox="1"/>
          <p:nvPr/>
        </p:nvSpPr>
        <p:spPr>
          <a:xfrm>
            <a:off x="914400" y="2057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BEFORE</a:t>
            </a:r>
            <a:endParaRPr lang="en-US" sz="1300" dirty="0"/>
          </a:p>
        </p:txBody>
      </p:sp>
      <p:sp>
        <p:nvSpPr>
          <p:cNvPr id="6" name="BEFORE body"/>
          <p:cNvSpPr txBox="1"/>
          <p:nvPr/>
        </p:nvSpPr>
        <p:spPr>
          <a:xfrm>
            <a:off x="914400" y="24231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Scam campaigns send near-identical copies. Some test messages had copies in training.</a:t>
            </a:r>
            <a:endParaRPr lang="en-US" sz="1800" dirty="0"/>
          </a:p>
        </p:txBody>
      </p:sp>
      <p:sp>
        <p:nvSpPr>
          <p:cNvPr id="7" name="BEFORE Train label"/>
          <p:cNvSpPr txBox="1"/>
          <p:nvPr/>
        </p:nvSpPr>
        <p:spPr>
          <a:xfrm>
            <a:off x="914400" y="3520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Train</a:t>
            </a:r>
            <a:endParaRPr lang="en-US" sz="1700" dirty="0"/>
          </a:p>
        </p:txBody>
      </p:sp>
      <p:sp>
        <p:nvSpPr>
          <p:cNvPr id="8" name="BEFORE Train chip 1"/>
          <p:cNvSpPr/>
          <p:nvPr/>
        </p:nvSpPr>
        <p:spPr>
          <a:xfrm>
            <a:off x="1828800" y="35204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9" name="BEFORE Train chip text 1"/>
          <p:cNvSpPr txBox="1"/>
          <p:nvPr/>
        </p:nvSpPr>
        <p:spPr>
          <a:xfrm>
            <a:off x="18288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BEFORE Train chip 2"/>
          <p:cNvSpPr/>
          <p:nvPr/>
        </p:nvSpPr>
        <p:spPr>
          <a:xfrm>
            <a:off x="2514600" y="35204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1" name="BEFORE Train chip text 2"/>
          <p:cNvSpPr txBox="1"/>
          <p:nvPr/>
        </p:nvSpPr>
        <p:spPr>
          <a:xfrm>
            <a:off x="25146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BEFORE Train chip 3"/>
          <p:cNvSpPr/>
          <p:nvPr/>
        </p:nvSpPr>
        <p:spPr>
          <a:xfrm>
            <a:off x="3200400" y="35204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3" name="BEFORE Train chip text 3"/>
          <p:cNvSpPr txBox="1"/>
          <p:nvPr/>
        </p:nvSpPr>
        <p:spPr>
          <a:xfrm>
            <a:off x="32004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BEFORE Train chip 4"/>
          <p:cNvSpPr/>
          <p:nvPr/>
        </p:nvSpPr>
        <p:spPr>
          <a:xfrm>
            <a:off x="3886200" y="35204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5" name="BEFORE Train chip text 4"/>
          <p:cNvSpPr txBox="1"/>
          <p:nvPr/>
        </p:nvSpPr>
        <p:spPr>
          <a:xfrm>
            <a:off x="38862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6" name="BEFORE Test label"/>
          <p:cNvSpPr txBox="1"/>
          <p:nvPr/>
        </p:nvSpPr>
        <p:spPr>
          <a:xfrm>
            <a:off x="914400" y="4434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Test</a:t>
            </a:r>
            <a:endParaRPr lang="en-US" sz="1700" dirty="0"/>
          </a:p>
        </p:txBody>
      </p:sp>
      <p:sp>
        <p:nvSpPr>
          <p:cNvPr id="17" name="BEFORE Test chip 1"/>
          <p:cNvSpPr/>
          <p:nvPr/>
        </p:nvSpPr>
        <p:spPr>
          <a:xfrm>
            <a:off x="1828800" y="44348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8" name="BEFORE Test chip text 1"/>
          <p:cNvSpPr txBox="1"/>
          <p:nvPr/>
        </p:nvSpPr>
        <p:spPr>
          <a:xfrm>
            <a:off x="182880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9" name="BEFORE Test chip 2"/>
          <p:cNvSpPr/>
          <p:nvPr/>
        </p:nvSpPr>
        <p:spPr>
          <a:xfrm>
            <a:off x="2514600" y="44348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0" name="BEFORE Test chip text 2"/>
          <p:cNvSpPr txBox="1"/>
          <p:nvPr/>
        </p:nvSpPr>
        <p:spPr>
          <a:xfrm>
            <a:off x="251460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21" name="BEFORE Test chip 3"/>
          <p:cNvSpPr/>
          <p:nvPr/>
        </p:nvSpPr>
        <p:spPr>
          <a:xfrm>
            <a:off x="3200400" y="44348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22" name="BEFORE Test chip text 3"/>
          <p:cNvSpPr txBox="1"/>
          <p:nvPr/>
        </p:nvSpPr>
        <p:spPr>
          <a:xfrm>
            <a:off x="320040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3" name="NOW panel"/>
          <p:cNvSpPr/>
          <p:nvPr/>
        </p:nvSpPr>
        <p:spPr>
          <a:xfrm>
            <a:off x="6245352" y="1783080"/>
            <a:ext cx="5394960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24" name="NOW label"/>
          <p:cNvSpPr txBox="1"/>
          <p:nvPr/>
        </p:nvSpPr>
        <p:spPr>
          <a:xfrm>
            <a:off x="6611112" y="2057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NOW</a:t>
            </a:r>
            <a:endParaRPr lang="en-US" sz="1300" dirty="0"/>
          </a:p>
        </p:txBody>
      </p:sp>
      <p:sp>
        <p:nvSpPr>
          <p:cNvPr id="25" name="NOW body"/>
          <p:cNvSpPr txBox="1"/>
          <p:nvPr/>
        </p:nvSpPr>
        <p:spPr>
          <a:xfrm>
            <a:off x="6611112" y="24231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Near-copies are grouped into clusters, and each cluster stays on one side of the split.</a:t>
            </a:r>
            <a:endParaRPr lang="en-US" sz="1800" dirty="0"/>
          </a:p>
        </p:txBody>
      </p:sp>
      <p:sp>
        <p:nvSpPr>
          <p:cNvPr id="26" name="NOW Train label"/>
          <p:cNvSpPr txBox="1"/>
          <p:nvPr/>
        </p:nvSpPr>
        <p:spPr>
          <a:xfrm>
            <a:off x="6611112" y="3520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Train</a:t>
            </a:r>
            <a:endParaRPr lang="en-US" sz="1700" dirty="0"/>
          </a:p>
        </p:txBody>
      </p:sp>
      <p:sp>
        <p:nvSpPr>
          <p:cNvPr id="27" name="NOW Train chip 1"/>
          <p:cNvSpPr/>
          <p:nvPr/>
        </p:nvSpPr>
        <p:spPr>
          <a:xfrm>
            <a:off x="7525512" y="35204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28" name="NOW Train chip text 1"/>
          <p:cNvSpPr txBox="1"/>
          <p:nvPr/>
        </p:nvSpPr>
        <p:spPr>
          <a:xfrm>
            <a:off x="7525512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29" name="NOW Train chip 2"/>
          <p:cNvSpPr/>
          <p:nvPr/>
        </p:nvSpPr>
        <p:spPr>
          <a:xfrm>
            <a:off x="8211312" y="35204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30" name="NOW Train chip text 2"/>
          <p:cNvSpPr txBox="1"/>
          <p:nvPr/>
        </p:nvSpPr>
        <p:spPr>
          <a:xfrm>
            <a:off x="8211312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31" name="NOW Train chip 3"/>
          <p:cNvSpPr/>
          <p:nvPr/>
        </p:nvSpPr>
        <p:spPr>
          <a:xfrm>
            <a:off x="8897112" y="35204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32" name="NOW Train chip text 3"/>
          <p:cNvSpPr txBox="1"/>
          <p:nvPr/>
        </p:nvSpPr>
        <p:spPr>
          <a:xfrm>
            <a:off x="8897112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33" name="NOW Train chip 4"/>
          <p:cNvSpPr/>
          <p:nvPr/>
        </p:nvSpPr>
        <p:spPr>
          <a:xfrm>
            <a:off x="9582912" y="35204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34" name="NOW Train chip text 4"/>
          <p:cNvSpPr txBox="1"/>
          <p:nvPr/>
        </p:nvSpPr>
        <p:spPr>
          <a:xfrm>
            <a:off x="9582912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35" name="NOW Train chip 5"/>
          <p:cNvSpPr/>
          <p:nvPr/>
        </p:nvSpPr>
        <p:spPr>
          <a:xfrm>
            <a:off x="10268712" y="35204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36" name="NOW Train chip text 5"/>
          <p:cNvSpPr txBox="1"/>
          <p:nvPr/>
        </p:nvSpPr>
        <p:spPr>
          <a:xfrm>
            <a:off x="10268712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37" name="NOW Test label"/>
          <p:cNvSpPr txBox="1"/>
          <p:nvPr/>
        </p:nvSpPr>
        <p:spPr>
          <a:xfrm>
            <a:off x="6611112" y="4434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Test</a:t>
            </a:r>
            <a:endParaRPr lang="en-US" sz="1700" dirty="0"/>
          </a:p>
        </p:txBody>
      </p:sp>
      <p:sp>
        <p:nvSpPr>
          <p:cNvPr id="38" name="NOW Test chip 1"/>
          <p:cNvSpPr/>
          <p:nvPr/>
        </p:nvSpPr>
        <p:spPr>
          <a:xfrm>
            <a:off x="7525512" y="44348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39" name="NOW Test chip text 1"/>
          <p:cNvSpPr txBox="1"/>
          <p:nvPr/>
        </p:nvSpPr>
        <p:spPr>
          <a:xfrm>
            <a:off x="7525512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40" name="NOW Test chip 2"/>
          <p:cNvSpPr/>
          <p:nvPr/>
        </p:nvSpPr>
        <p:spPr>
          <a:xfrm>
            <a:off x="8211312" y="44348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41" name="NOW Test chip text 2"/>
          <p:cNvSpPr txBox="1"/>
          <p:nvPr/>
        </p:nvSpPr>
        <p:spPr>
          <a:xfrm>
            <a:off x="8211312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42" name="NOW Test chip 3"/>
          <p:cNvSpPr/>
          <p:nvPr/>
        </p:nvSpPr>
        <p:spPr>
          <a:xfrm>
            <a:off x="8897112" y="4434840"/>
            <a:ext cx="5486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43" name="NOW Test chip text 3"/>
          <p:cNvSpPr txBox="1"/>
          <p:nvPr/>
        </p:nvSpPr>
        <p:spPr>
          <a:xfrm>
            <a:off x="8897112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44" name="Chip caption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Each letter is one scam campaign. The same letter in training and test means the model has already seen the answer.</a:t>
            </a:r>
            <a:endParaRPr lang="en-US" sz="1600" dirty="0"/>
          </a:p>
        </p:txBody>
      </p:sp>
      <p:sp>
        <p:nvSpPr>
          <p:cNvPr id="46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5 · WHY THE NUMBERS ARE HONEST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honest result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Source: reports/test_result.json; reports/sg_scams_predictions.csv for the Singapore sets.</a:t>
            </a:r>
            <a:endParaRPr lang="en-US" sz="1100" dirty="0"/>
          </a:p>
        </p:txBody>
      </p:sp>
      <p:sp>
        <p:nvSpPr>
          <p:cNvPr id="5" name="Headline recall"/>
          <p:cNvSpPr txBox="1"/>
          <p:nvPr/>
        </p:nvSpPr>
        <p:spPr>
          <a:xfrm>
            <a:off x="548640" y="201168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76%</a:t>
            </a:r>
            <a:endParaRPr lang="en-US" sz="11000" dirty="0"/>
          </a:p>
        </p:txBody>
      </p:sp>
      <p:sp>
        <p:nvSpPr>
          <p:cNvPr id="6" name="Headline caption"/>
          <p:cNvSpPr txBox="1"/>
          <p:nvPr/>
        </p:nvSpPr>
        <p:spPr>
          <a:xfrm>
            <a:off x="548640" y="3657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of test scams caught (83 of 109)</a:t>
            </a:r>
            <a:endParaRPr lang="en-US" sz="2200" dirty="0"/>
          </a:p>
        </p:txBody>
      </p:sp>
      <p:sp>
        <p:nvSpPr>
          <p:cNvPr id="7" name="Result 1"/>
          <p:cNvSpPr txBox="1"/>
          <p:nvPr/>
        </p:nvSpPr>
        <p:spPr>
          <a:xfrm>
            <a:off x="530352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56–89%</a:t>
            </a:r>
            <a:endParaRPr lang="en-US" sz="3000" dirty="0"/>
          </a:p>
        </p:txBody>
      </p:sp>
      <p:sp>
        <p:nvSpPr>
          <p:cNvPr id="8" name="Result caption 1"/>
          <p:cNvSpPr txBox="1"/>
          <p:nvPr/>
        </p:nvSpPr>
        <p:spPr>
          <a:xfrm>
            <a:off x="7498080" y="1783080"/>
            <a:ext cx="4142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95% interval: wide, because there are only 43 distinct campaigns</a:t>
            </a:r>
            <a:endParaRPr lang="en-US" sz="1700" dirty="0"/>
          </a:p>
        </p:txBody>
      </p:sp>
      <p:sp>
        <p:nvSpPr>
          <p:cNvPr id="9" name="Row divider 1"/>
          <p:cNvSpPr/>
          <p:nvPr/>
        </p:nvSpPr>
        <p:spPr>
          <a:xfrm>
            <a:off x="5303520" y="2766060"/>
            <a:ext cx="6336792" cy="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</p:sp>
      <p:sp>
        <p:nvSpPr>
          <p:cNvPr id="10" name="Result 2"/>
          <p:cNvSpPr txBox="1"/>
          <p:nvPr/>
        </p:nvSpPr>
        <p:spPr>
          <a:xfrm>
            <a:off x="530352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0.2%</a:t>
            </a:r>
            <a:endParaRPr lang="en-US" sz="3000" dirty="0"/>
          </a:p>
        </p:txBody>
      </p:sp>
      <p:sp>
        <p:nvSpPr>
          <p:cNvPr id="11" name="Result caption 2"/>
          <p:cNvSpPr txBox="1"/>
          <p:nvPr/>
        </p:nvSpPr>
        <p:spPr>
          <a:xfrm>
            <a:off x="7498080" y="2834640"/>
            <a:ext cx="4142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of Singaporeans’ personal chats wrongly flagged (18 of 8,547)</a:t>
            </a:r>
            <a:endParaRPr lang="en-US" sz="1700" dirty="0"/>
          </a:p>
        </p:txBody>
      </p:sp>
      <p:sp>
        <p:nvSpPr>
          <p:cNvPr id="12" name="Row divider 2"/>
          <p:cNvSpPr/>
          <p:nvPr/>
        </p:nvSpPr>
        <p:spPr>
          <a:xfrm>
            <a:off x="5303520" y="3817620"/>
            <a:ext cx="6336792" cy="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</p:sp>
      <p:sp>
        <p:nvSpPr>
          <p:cNvPr id="13" name="Result 3"/>
          <p:cNvSpPr txBox="1"/>
          <p:nvPr/>
        </p:nvSpPr>
        <p:spPr>
          <a:xfrm>
            <a:off x="5303520" y="3886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command</a:t>
            </a:r>
            <a:endParaRPr lang="en-US" sz="3000" dirty="0"/>
          </a:p>
        </p:txBody>
      </p:sp>
      <p:sp>
        <p:nvSpPr>
          <p:cNvPr id="14" name="Result caption 3"/>
          <p:cNvSpPr txBox="1"/>
          <p:nvPr/>
        </p:nvSpPr>
        <p:spPr>
          <a:xfrm>
            <a:off x="7498080" y="3886200"/>
            <a:ext cx="4142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rebuilds the model and its test figures from one config file</a:t>
            </a:r>
            <a:endParaRPr lang="en-US" sz="1700" dirty="0"/>
          </a:p>
        </p:txBody>
      </p:sp>
      <p:sp>
        <p:nvSpPr>
          <p:cNvPr id="15" name="Row divider 3"/>
          <p:cNvSpPr/>
          <p:nvPr/>
        </p:nvSpPr>
        <p:spPr>
          <a:xfrm>
            <a:off x="5303520" y="4869180"/>
            <a:ext cx="6336792" cy="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</p:sp>
      <p:sp>
        <p:nvSpPr>
          <p:cNvPr id="16" name="Result 4"/>
          <p:cNvSpPr txBox="1"/>
          <p:nvPr/>
        </p:nvSpPr>
        <p:spPr>
          <a:xfrm>
            <a:off x="5303520" y="4937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 tests</a:t>
            </a:r>
            <a:endParaRPr lang="en-US" sz="3000" dirty="0"/>
          </a:p>
        </p:txBody>
      </p:sp>
      <p:sp>
        <p:nvSpPr>
          <p:cNvPr id="17" name="Result caption 4"/>
          <p:cNvSpPr txBox="1"/>
          <p:nvPr/>
        </p:nvSpPr>
        <p:spPr>
          <a:xfrm>
            <a:off x="7498080" y="4937760"/>
            <a:ext cx="4142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check it, including that the LLM gate holds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6 · RECOMMENDATION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Not ready for customers</a:t>
            </a:r>
            <a:endParaRPr lang="en-US" sz="5400" dirty="0"/>
          </a:p>
        </p:txBody>
      </p:sp>
      <p:sp>
        <p:nvSpPr>
          <p:cNvPr id="4" name="Verdict stat 1"/>
          <p:cNvSpPr txBox="1"/>
          <p:nvPr/>
        </p:nvSpPr>
        <p:spPr>
          <a:xfrm>
            <a:off x="731520" y="2834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60%</a:t>
            </a:r>
            <a:endParaRPr lang="en-US" sz="6600" dirty="0"/>
          </a:p>
        </p:txBody>
      </p:sp>
      <p:sp>
        <p:nvSpPr>
          <p:cNvPr id="5" name="Verdict caption 1"/>
          <p:cNvSpPr txBox="1"/>
          <p:nvPr/>
        </p:nvSpPr>
        <p:spPr>
          <a:xfrm>
            <a:off x="731520" y="3977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of real local scams caught (36 of 60)</a:t>
            </a:r>
            <a:endParaRPr lang="en-US" sz="2200" dirty="0"/>
          </a:p>
        </p:txBody>
      </p:sp>
      <p:sp>
        <p:nvSpPr>
          <p:cNvPr id="6" name="Verdict stat 2"/>
          <p:cNvSpPr txBox="1"/>
          <p:nvPr/>
        </p:nvSpPr>
        <p:spPr>
          <a:xfrm>
            <a:off x="6309360" y="2834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of 5</a:t>
            </a:r>
            <a:endParaRPr lang="en-US" sz="6600" dirty="0"/>
          </a:p>
        </p:txBody>
      </p:sp>
      <p:sp>
        <p:nvSpPr>
          <p:cNvPr id="7" name="Verdict caption 2"/>
          <p:cNvSpPr txBox="1"/>
          <p:nvPr/>
        </p:nvSpPr>
        <p:spPr>
          <a:xfrm>
            <a:off x="6309360" y="3977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genuine bank and SingPost notices flagged as scams: a no-go on its own</a:t>
            </a:r>
            <a:endParaRPr lang="en-US" sz="2200" dirty="0"/>
          </a:p>
        </p:txBody>
      </p:sp>
      <p:sp>
        <p:nvSpPr>
          <p:cNvPr id="8" name="Root cause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</a:rPr>
              <a:t>Both problems come from foreign training data.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6 · RECOMMENDATION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ask: a three-month pilot, about S$9,000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Pilot costs are estimates at S$50 per analyst-hour (writeup section 1).</a:t>
            </a:r>
            <a:endParaRPr lang="en-US" sz="1100" dirty="0"/>
          </a:p>
        </p:txBody>
      </p:sp>
      <p:sp>
        <p:nvSpPr>
          <p:cNvPr id="5" name="Pilot cost card 1"/>
          <p:cNvSpPr/>
          <p:nvPr/>
        </p:nvSpPr>
        <p:spPr>
          <a:xfrm>
            <a:off x="548640" y="1783080"/>
            <a:ext cx="5454396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6" name="Pilot cost 1"/>
          <p:cNvSpPr txBox="1"/>
          <p:nvPr/>
        </p:nvSpPr>
        <p:spPr>
          <a:xfrm>
            <a:off x="91440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S$5,000</a:t>
            </a:r>
            <a:endParaRPr lang="en-US" sz="4400" dirty="0"/>
          </a:p>
        </p:txBody>
      </p:sp>
      <p:sp>
        <p:nvSpPr>
          <p:cNvPr id="7" name="Pilot cost caption 1"/>
          <p:cNvSpPr txBox="1"/>
          <p:nvPr/>
        </p:nvSpPr>
        <p:spPr>
          <a:xfrm>
            <a:off x="914400" y="2926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to label local messages</a:t>
            </a:r>
            <a:endParaRPr lang="en-US" sz="2000" dirty="0"/>
          </a:p>
        </p:txBody>
      </p:sp>
      <p:sp>
        <p:nvSpPr>
          <p:cNvPr id="8" name="Pilot cost card 2"/>
          <p:cNvSpPr/>
          <p:nvPr/>
        </p:nvSpPr>
        <p:spPr>
          <a:xfrm>
            <a:off x="6185916" y="1783080"/>
            <a:ext cx="5454396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Pilot cost 2"/>
          <p:cNvSpPr txBox="1"/>
          <p:nvPr/>
        </p:nvSpPr>
        <p:spPr>
          <a:xfrm>
            <a:off x="6551676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S$4,000</a:t>
            </a:r>
            <a:endParaRPr lang="en-US" sz="4400" dirty="0"/>
          </a:p>
        </p:txBody>
      </p:sp>
      <p:sp>
        <p:nvSpPr>
          <p:cNvPr id="10" name="Pilot cost caption 2"/>
          <p:cNvSpPr txBox="1"/>
          <p:nvPr/>
        </p:nvSpPr>
        <p:spPr>
          <a:xfrm>
            <a:off x="6551676" y="2926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of staff time to run the trial</a:t>
            </a:r>
            <a:endParaRPr lang="en-US" sz="2000" dirty="0"/>
          </a:p>
        </p:txBody>
      </p:sp>
      <p:sp>
        <p:nvSpPr>
          <p:cNvPr id="11" name="Criterion card 1"/>
          <p:cNvSpPr/>
          <p:nvPr/>
        </p:nvSpPr>
        <p:spPr>
          <a:xfrm>
            <a:off x="548640" y="4206240"/>
            <a:ext cx="3453689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Criterion label 1"/>
          <p:cNvSpPr txBox="1"/>
          <p:nvPr/>
        </p:nvSpPr>
        <p:spPr>
          <a:xfrm>
            <a:off x="914400" y="4389120"/>
            <a:ext cx="27221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PASS ONLY IF</a:t>
            </a:r>
            <a:endParaRPr lang="en-US" sz="1300" dirty="0"/>
          </a:p>
        </p:txBody>
      </p:sp>
      <p:sp>
        <p:nvSpPr>
          <p:cNvPr id="13" name="Criterion number 1"/>
          <p:cNvSpPr txBox="1"/>
          <p:nvPr/>
        </p:nvSpPr>
        <p:spPr>
          <a:xfrm>
            <a:off x="914400" y="4709160"/>
            <a:ext cx="27221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≥ 80%</a:t>
            </a:r>
            <a:endParaRPr lang="en-US" sz="3600" dirty="0"/>
          </a:p>
        </p:txBody>
      </p:sp>
      <p:sp>
        <p:nvSpPr>
          <p:cNvPr id="14" name="Criterion caption 1"/>
          <p:cNvSpPr txBox="1"/>
          <p:nvPr/>
        </p:nvSpPr>
        <p:spPr>
          <a:xfrm>
            <a:off x="914400" y="5440680"/>
            <a:ext cx="27221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of local scams caught</a:t>
            </a:r>
            <a:endParaRPr lang="en-US" sz="1600" dirty="0"/>
          </a:p>
        </p:txBody>
      </p:sp>
      <p:sp>
        <p:nvSpPr>
          <p:cNvPr id="15" name="Criterion card 2"/>
          <p:cNvSpPr/>
          <p:nvPr/>
        </p:nvSpPr>
        <p:spPr>
          <a:xfrm>
            <a:off x="4368089" y="4206240"/>
            <a:ext cx="3453689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Criterion label 2"/>
          <p:cNvSpPr txBox="1"/>
          <p:nvPr/>
        </p:nvSpPr>
        <p:spPr>
          <a:xfrm>
            <a:off x="4733849" y="4389120"/>
            <a:ext cx="27221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PASS ONLY IF</a:t>
            </a:r>
            <a:endParaRPr lang="en-US" sz="1300" dirty="0"/>
          </a:p>
        </p:txBody>
      </p:sp>
      <p:sp>
        <p:nvSpPr>
          <p:cNvPr id="17" name="Criterion number 2"/>
          <p:cNvSpPr txBox="1"/>
          <p:nvPr/>
        </p:nvSpPr>
        <p:spPr>
          <a:xfrm>
            <a:off x="4733849" y="4709160"/>
            <a:ext cx="27221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≤ 1%</a:t>
            </a:r>
            <a:endParaRPr lang="en-US" sz="3600" dirty="0"/>
          </a:p>
        </p:txBody>
      </p:sp>
      <p:sp>
        <p:nvSpPr>
          <p:cNvPr id="18" name="Criterion caption 2"/>
          <p:cNvSpPr txBox="1"/>
          <p:nvPr/>
        </p:nvSpPr>
        <p:spPr>
          <a:xfrm>
            <a:off x="4733849" y="5440680"/>
            <a:ext cx="27221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of the bank’s real alerts flagged</a:t>
            </a:r>
            <a:endParaRPr lang="en-US" sz="1600" dirty="0"/>
          </a:p>
        </p:txBody>
      </p:sp>
      <p:sp>
        <p:nvSpPr>
          <p:cNvPr id="19" name="Criterion card 3"/>
          <p:cNvSpPr/>
          <p:nvPr/>
        </p:nvSpPr>
        <p:spPr>
          <a:xfrm>
            <a:off x="8187538" y="4206240"/>
            <a:ext cx="3453689" cy="192024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20" name="Criterion label 3"/>
          <p:cNvSpPr txBox="1"/>
          <p:nvPr/>
        </p:nvSpPr>
        <p:spPr>
          <a:xfrm>
            <a:off x="8553298" y="4389120"/>
            <a:ext cx="27221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RUNNING COST</a:t>
            </a:r>
            <a:endParaRPr lang="en-US" sz="1300" dirty="0"/>
          </a:p>
        </p:txBody>
      </p:sp>
      <p:sp>
        <p:nvSpPr>
          <p:cNvPr id="21" name="Criterion number 3"/>
          <p:cNvSpPr txBox="1"/>
          <p:nvPr/>
        </p:nvSpPr>
        <p:spPr>
          <a:xfrm>
            <a:off x="8553298" y="4709160"/>
            <a:ext cx="27221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S$10–14k</a:t>
            </a:r>
            <a:endParaRPr lang="en-US" sz="3600" dirty="0"/>
          </a:p>
        </p:txBody>
      </p:sp>
      <p:sp>
        <p:nvSpPr>
          <p:cNvPr id="22" name="Criterion caption 3"/>
          <p:cNvSpPr txBox="1"/>
          <p:nvPr/>
        </p:nvSpPr>
        <p:spPr>
          <a:xfrm>
            <a:off x="8553298" y="5440680"/>
            <a:ext cx="27221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year of review time: people, not tokens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</a:rPr>
              <a:t>SMISHING TRIAGE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Thank you</a:t>
            </a: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204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6"/>
                </a:solidFill>
              </a:rPr>
              <a:t>Try it: t.me/bc3415_smishing_bot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ishing Triage">
  <a:themeElements>
    <a:clrScheme name="Smishing Triage">
      <a:dk1>
        <a:srgbClr val="14202E"/>
      </a:dk1>
      <a:lt1>
        <a:srgbClr val="FFFFFF"/>
      </a:lt1>
      <a:dk2>
        <a:srgbClr val="4A5361"/>
      </a:dk2>
      <a:lt2>
        <a:srgbClr val="F2F4F7"/>
      </a:lt2>
      <a:accent1>
        <a:srgbClr val="B8501F"/>
      </a:accent1>
      <a:accent2>
        <a:srgbClr val="2B6CB0"/>
      </a:accent2>
      <a:accent3>
        <a:srgbClr val="5E6673"/>
      </a:accent3>
      <a:accent4>
        <a:srgbClr val="F08A4B"/>
      </a:accent4>
      <a:accent5>
        <a:srgbClr val="7FB2E5"/>
      </a:accent5>
      <a:accent6>
        <a:srgbClr val="B9C4CF"/>
      </a:accent6>
      <a:hlink>
        <a:srgbClr val="2B6CB0"/>
      </a:hlink>
      <a:folHlink>
        <a:srgbClr val="5E6673"/>
      </a:folHlink>
    </a:clrScheme>
    <a:fontScheme name="Smishing Tria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Smishing Triage</dc:title>
  <dc:subject>PptxGenJS Presentation</dc:subject>
  <dc:creator>Jonathan Low</dc:creator>
  <cp:lastModifiedBy>Jonathan Low</cp:lastModifiedBy>
  <cp:revision>1</cp:revision>
  <dcterms:created xsi:type="dcterms:W3CDTF">2026-10-25T11:54:13Z</dcterms:created>
  <dcterms:modified xsi:type="dcterms:W3CDTF">2026-10-25T11:54:13Z</dcterms:modified>
</cp:coreProperties>
</file>