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 id="2582" r:id="rId23"/>
    <p:sldId id="258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60"/>
  </p:normalViewPr>
  <p:slideViewPr>
    <p:cSldViewPr snapToGrid="0">
      <p:cViewPr varScale="1">
        <p:scale>
          <a:sx n="51" d="100"/>
          <a:sy n="51" d="100"/>
        </p:scale>
        <p:origin x="36"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9DADF7-76C8-4FB1-8CC6-AF6EB722ADCE}" type="doc">
      <dgm:prSet loTypeId="urn:microsoft.com/office/officeart/2024/3/layout/verticalVisualTextBlock1" loCatId="Picture" qsTypeId="urn:microsoft.com/office/officeart/2005/8/quickstyle/simple4" qsCatId="simple" csTypeId="urn:microsoft.com/office/officeart/2005/8/colors/accent0_1" csCatId="mainScheme" phldr="1"/>
      <dgm:spPr/>
      <dgm:t>
        <a:bodyPr/>
        <a:lstStyle/>
        <a:p>
          <a:endParaRPr lang="en-US"/>
        </a:p>
      </dgm:t>
    </dgm:pt>
    <dgm:pt modelId="{035C521D-E477-4E7A-9074-DA0BF64C8A2C}">
      <dgm:prSet/>
      <dgm:spPr/>
      <dgm:t>
        <a:bodyPr/>
        <a:lstStyle/>
        <a:p>
          <a:pPr>
            <a:lnSpc>
              <a:spcPct val="100000"/>
            </a:lnSpc>
            <a:defRPr b="1"/>
          </a:pPr>
          <a:r>
            <a:rPr lang="en-US"/>
            <a:t>Customer Onboarding Efficiency</a:t>
          </a:r>
        </a:p>
      </dgm:t>
    </dgm:pt>
    <dgm:pt modelId="{8709CB3D-AC8E-427D-9653-0975717E758D}" type="parTrans" cxnId="{9739043A-8F23-4367-8063-EF3E7631671A}">
      <dgm:prSet/>
      <dgm:spPr/>
      <dgm:t>
        <a:bodyPr/>
        <a:lstStyle/>
        <a:p>
          <a:endParaRPr lang="en-US"/>
        </a:p>
      </dgm:t>
    </dgm:pt>
    <dgm:pt modelId="{78846C67-DF88-4178-8FFC-30E2846BD986}" type="sibTrans" cxnId="{9739043A-8F23-4367-8063-EF3E7631671A}">
      <dgm:prSet/>
      <dgm:spPr/>
      <dgm:t>
        <a:bodyPr/>
        <a:lstStyle/>
        <a:p>
          <a:pPr>
            <a:lnSpc>
              <a:spcPct val="100000"/>
            </a:lnSpc>
            <a:defRPr b="1"/>
          </a:pPr>
          <a:endParaRPr lang="en-US"/>
        </a:p>
      </dgm:t>
    </dgm:pt>
    <dgm:pt modelId="{63DA737D-9C0A-4250-9EFF-FD207FF1BDEC}">
      <dgm:prSet/>
      <dgm:spPr/>
      <dgm:t>
        <a:bodyPr/>
        <a:lstStyle/>
        <a:p>
          <a:pPr>
            <a:lnSpc>
              <a:spcPct val="100000"/>
            </a:lnSpc>
          </a:pPr>
          <a:r>
            <a:rPr lang="en-US"/>
            <a:t>RPA significantly improves the efficiency of customer onboarding processes in telecommunications, reducing time and effort.</a:t>
          </a:r>
        </a:p>
      </dgm:t>
    </dgm:pt>
    <dgm:pt modelId="{76E19794-F3A2-4266-A9BD-91AA9EDDD31D}" type="parTrans" cxnId="{3FED914D-1991-4C11-A9EE-4D768A16EA1B}">
      <dgm:prSet/>
      <dgm:spPr/>
      <dgm:t>
        <a:bodyPr/>
        <a:lstStyle/>
        <a:p>
          <a:endParaRPr lang="en-US"/>
        </a:p>
      </dgm:t>
    </dgm:pt>
    <dgm:pt modelId="{E86C1F8A-B408-45E3-8C2E-A6B7162EFB91}" type="sibTrans" cxnId="{3FED914D-1991-4C11-A9EE-4D768A16EA1B}">
      <dgm:prSet/>
      <dgm:spPr/>
      <dgm:t>
        <a:bodyPr/>
        <a:lstStyle/>
        <a:p>
          <a:endParaRPr lang="en-US"/>
        </a:p>
      </dgm:t>
    </dgm:pt>
    <dgm:pt modelId="{B98DFDD8-60BF-4580-B915-D4FD86950C52}">
      <dgm:prSet/>
      <dgm:spPr/>
      <dgm:t>
        <a:bodyPr/>
        <a:lstStyle/>
        <a:p>
          <a:pPr>
            <a:lnSpc>
              <a:spcPct val="100000"/>
            </a:lnSpc>
            <a:defRPr b="1"/>
          </a:pPr>
          <a:r>
            <a:rPr lang="en-US"/>
            <a:t>Service Provisioning Enhancement</a:t>
          </a:r>
        </a:p>
      </dgm:t>
    </dgm:pt>
    <dgm:pt modelId="{A3CA1363-9F48-428D-A47A-817E33DA7B2E}" type="parTrans" cxnId="{572D1C4B-0870-4680-A639-CD86C22CBB46}">
      <dgm:prSet/>
      <dgm:spPr/>
      <dgm:t>
        <a:bodyPr/>
        <a:lstStyle/>
        <a:p>
          <a:endParaRPr lang="en-US"/>
        </a:p>
      </dgm:t>
    </dgm:pt>
    <dgm:pt modelId="{885CF6D6-ED5B-493C-B82B-8FA610008236}" type="sibTrans" cxnId="{572D1C4B-0870-4680-A639-CD86C22CBB46}">
      <dgm:prSet/>
      <dgm:spPr/>
      <dgm:t>
        <a:bodyPr/>
        <a:lstStyle/>
        <a:p>
          <a:pPr>
            <a:lnSpc>
              <a:spcPct val="100000"/>
            </a:lnSpc>
            <a:defRPr b="1"/>
          </a:pPr>
          <a:endParaRPr lang="en-US"/>
        </a:p>
      </dgm:t>
    </dgm:pt>
    <dgm:pt modelId="{5FCBBC3F-101F-46A4-A4BC-0D31D34A8B0A}">
      <dgm:prSet/>
      <dgm:spPr/>
      <dgm:t>
        <a:bodyPr/>
        <a:lstStyle/>
        <a:p>
          <a:pPr>
            <a:lnSpc>
              <a:spcPct val="100000"/>
            </a:lnSpc>
          </a:pPr>
          <a:r>
            <a:rPr lang="en-US"/>
            <a:t>RPA enhances service provisioning by automating routine tasks, ensuring faster and more reliable service delivery.</a:t>
          </a:r>
        </a:p>
      </dgm:t>
    </dgm:pt>
    <dgm:pt modelId="{DC381C9A-55E7-4175-B1AD-A0579457FB04}" type="parTrans" cxnId="{4FE70808-462B-44BC-B767-EA1F65492FFA}">
      <dgm:prSet/>
      <dgm:spPr/>
      <dgm:t>
        <a:bodyPr/>
        <a:lstStyle/>
        <a:p>
          <a:endParaRPr lang="en-US"/>
        </a:p>
      </dgm:t>
    </dgm:pt>
    <dgm:pt modelId="{D445D156-A601-4911-A6DD-15E0A5CDE491}" type="sibTrans" cxnId="{4FE70808-462B-44BC-B767-EA1F65492FFA}">
      <dgm:prSet/>
      <dgm:spPr/>
      <dgm:t>
        <a:bodyPr/>
        <a:lstStyle/>
        <a:p>
          <a:endParaRPr lang="en-US"/>
        </a:p>
      </dgm:t>
    </dgm:pt>
    <dgm:pt modelId="{F68A54A5-A2B3-4131-B38D-1794C6984FB2}">
      <dgm:prSet/>
      <dgm:spPr/>
      <dgm:t>
        <a:bodyPr/>
        <a:lstStyle/>
        <a:p>
          <a:pPr>
            <a:lnSpc>
              <a:spcPct val="100000"/>
            </a:lnSpc>
            <a:defRPr b="1"/>
          </a:pPr>
          <a:r>
            <a:rPr lang="en-US"/>
            <a:t>Billing Process Automation</a:t>
          </a:r>
        </a:p>
      </dgm:t>
    </dgm:pt>
    <dgm:pt modelId="{EE7028D6-10CA-48F5-8550-A8E1DAF944BB}" type="parTrans" cxnId="{EC7E8278-671B-4C2A-91FB-28E5942E47BA}">
      <dgm:prSet/>
      <dgm:spPr/>
      <dgm:t>
        <a:bodyPr/>
        <a:lstStyle/>
        <a:p>
          <a:endParaRPr lang="en-US"/>
        </a:p>
      </dgm:t>
    </dgm:pt>
    <dgm:pt modelId="{578AB677-D70A-47B2-9D86-B5A524750A63}" type="sibTrans" cxnId="{EC7E8278-671B-4C2A-91FB-28E5942E47BA}">
      <dgm:prSet/>
      <dgm:spPr/>
      <dgm:t>
        <a:bodyPr/>
        <a:lstStyle/>
        <a:p>
          <a:endParaRPr lang="en-US"/>
        </a:p>
      </dgm:t>
    </dgm:pt>
    <dgm:pt modelId="{66405748-610D-4C3E-B5D3-16F012B3F990}">
      <dgm:prSet/>
      <dgm:spPr/>
      <dgm:t>
        <a:bodyPr/>
        <a:lstStyle/>
        <a:p>
          <a:pPr>
            <a:lnSpc>
              <a:spcPct val="100000"/>
            </a:lnSpc>
          </a:pPr>
          <a:r>
            <a:rPr lang="en-US"/>
            <a:t>Automation of billing processes through RPA leads to increased accuracy and reduced errors in billing statements.</a:t>
          </a:r>
        </a:p>
      </dgm:t>
    </dgm:pt>
    <dgm:pt modelId="{1A61D5D7-8537-48E4-A9C2-9C82D9783B65}" type="parTrans" cxnId="{BCC0FEFD-F39A-46C0-9225-23EABC0083B2}">
      <dgm:prSet/>
      <dgm:spPr/>
      <dgm:t>
        <a:bodyPr/>
        <a:lstStyle/>
        <a:p>
          <a:endParaRPr lang="en-US"/>
        </a:p>
      </dgm:t>
    </dgm:pt>
    <dgm:pt modelId="{E5143DE3-6CDA-47E1-AC98-570B0E4C7208}" type="sibTrans" cxnId="{BCC0FEFD-F39A-46C0-9225-23EABC0083B2}">
      <dgm:prSet/>
      <dgm:spPr/>
      <dgm:t>
        <a:bodyPr/>
        <a:lstStyle/>
        <a:p>
          <a:endParaRPr lang="en-US"/>
        </a:p>
      </dgm:t>
    </dgm:pt>
    <dgm:pt modelId="{0FE5A6B7-EF79-4B0E-BC9C-28F0971F51FB}" type="pres">
      <dgm:prSet presAssocID="{C09DADF7-76C8-4FB1-8CC6-AF6EB722ADCE}" presName="Root" presStyleCnt="0">
        <dgm:presLayoutVars>
          <dgm:dir/>
          <dgm:resizeHandles val="exact"/>
        </dgm:presLayoutVars>
      </dgm:prSet>
      <dgm:spPr/>
    </dgm:pt>
    <dgm:pt modelId="{5D01DC39-98AF-4A16-B51E-C015F4747B89}" type="pres">
      <dgm:prSet presAssocID="{035C521D-E477-4E7A-9074-DA0BF64C8A2C}" presName="Composite" presStyleCnt="0"/>
      <dgm:spPr/>
    </dgm:pt>
    <dgm:pt modelId="{7A06146C-E853-418D-A5CF-2C81F4C2CC9A}" type="pres">
      <dgm:prSet presAssocID="{035C521D-E477-4E7A-9074-DA0BF64C8A2C}"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22444" r="21304" b="-3"/>
          <a:stretch/>
        </a:blipFill>
      </dgm:spPr>
      <dgm:extLst>
        <a:ext uri="{E40237B7-FDA0-4F09-8148-C483321AD2D9}">
          <dgm14:cNvPr xmlns:dgm14="http://schemas.microsoft.com/office/drawing/2010/diagram" id="0" name="" descr="4K Resolution"/>
        </a:ext>
      </dgm:extLst>
    </dgm:pt>
    <dgm:pt modelId="{56AD14D6-CC1D-43C2-A60F-48F966EF8226}" type="pres">
      <dgm:prSet presAssocID="{035C521D-E477-4E7A-9074-DA0BF64C8A2C}" presName="Subtitle" presStyleLbl="revTx" presStyleIdx="0" presStyleCnt="6">
        <dgm:presLayoutVars>
          <dgm:chMax val="0"/>
          <dgm:bulletEnabled/>
        </dgm:presLayoutVars>
      </dgm:prSet>
      <dgm:spPr/>
    </dgm:pt>
    <dgm:pt modelId="{35B66A5A-CC58-4CCE-9D54-60A863E94CED}" type="pres">
      <dgm:prSet presAssocID="{035C521D-E477-4E7A-9074-DA0BF64C8A2C}" presName="Description" presStyleLbl="revTx" presStyleIdx="1" presStyleCnt="6">
        <dgm:presLayoutVars>
          <dgm:bulletEnabled/>
        </dgm:presLayoutVars>
      </dgm:prSet>
      <dgm:spPr/>
    </dgm:pt>
    <dgm:pt modelId="{7C9C3D3D-04D3-472F-A4D2-00A8E783AAAB}" type="pres">
      <dgm:prSet presAssocID="{78846C67-DF88-4178-8FFC-30E2846BD986}" presName="sibTrans" presStyleLbl="sibTrans2D1" presStyleIdx="0" presStyleCnt="0"/>
      <dgm:spPr/>
    </dgm:pt>
    <dgm:pt modelId="{99CA203E-5A07-4C06-A139-EDF5E39EE9CC}" type="pres">
      <dgm:prSet presAssocID="{B98DFDD8-60BF-4580-B915-D4FD86950C52}" presName="Composite" presStyleCnt="0"/>
      <dgm:spPr/>
    </dgm:pt>
    <dgm:pt modelId="{4582AE4F-359D-44F4-AB70-382079C4BD4E}" type="pres">
      <dgm:prSet presAssocID="{B98DFDD8-60BF-4580-B915-D4FD86950C52}"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17327" r="13925" b="3"/>
          <a:stretch/>
        </a:blipFill>
      </dgm:spPr>
      <dgm:extLst>
        <a:ext uri="{E40237B7-FDA0-4F09-8148-C483321AD2D9}">
          <dgm14:cNvPr xmlns:dgm14="http://schemas.microsoft.com/office/drawing/2010/diagram" id="0" name="" descr="Computer Network, Global Communication Concept&#10;Map: https://visibleearth.nasa.gov/images/57730/the-blue-marble-land-surface-ocean-color-and-sea-ice"/>
        </a:ext>
      </dgm:extLst>
    </dgm:pt>
    <dgm:pt modelId="{360A0F21-C536-4F05-94A3-18BBC84F340B}" type="pres">
      <dgm:prSet presAssocID="{B98DFDD8-60BF-4580-B915-D4FD86950C52}" presName="Subtitle" presStyleLbl="revTx" presStyleIdx="2" presStyleCnt="6">
        <dgm:presLayoutVars>
          <dgm:chMax val="0"/>
          <dgm:bulletEnabled/>
        </dgm:presLayoutVars>
      </dgm:prSet>
      <dgm:spPr/>
    </dgm:pt>
    <dgm:pt modelId="{8C2E6916-B8CC-4AA8-92ED-552A87F9F053}" type="pres">
      <dgm:prSet presAssocID="{B98DFDD8-60BF-4580-B915-D4FD86950C52}" presName="Description" presStyleLbl="revTx" presStyleIdx="3" presStyleCnt="6">
        <dgm:presLayoutVars>
          <dgm:bulletEnabled/>
        </dgm:presLayoutVars>
      </dgm:prSet>
      <dgm:spPr/>
    </dgm:pt>
    <dgm:pt modelId="{020304F2-EC9B-400A-ABAB-994F9762B8B2}" type="pres">
      <dgm:prSet presAssocID="{885CF6D6-ED5B-493C-B82B-8FA610008236}" presName="sibTrans" presStyleLbl="sibTrans2D1" presStyleIdx="0" presStyleCnt="0"/>
      <dgm:spPr/>
    </dgm:pt>
    <dgm:pt modelId="{39A77321-5B05-4FF1-9717-F194ABF4C22B}" type="pres">
      <dgm:prSet presAssocID="{F68A54A5-A2B3-4131-B38D-1794C6984FB2}" presName="Composite" presStyleCnt="0"/>
      <dgm:spPr/>
    </dgm:pt>
    <dgm:pt modelId="{AB37B594-BD7F-4F4C-B05A-F5097626FF37}" type="pres">
      <dgm:prSet presAssocID="{F68A54A5-A2B3-4131-B38D-1794C6984FB2}"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r="-7" b="-7"/>
          <a:stretch/>
        </a:blipFill>
      </dgm:spPr>
      <dgm:extLst>
        <a:ext uri="{E40237B7-FDA0-4F09-8148-C483321AD2D9}">
          <dgm14:cNvPr xmlns:dgm14="http://schemas.microsoft.com/office/drawing/2010/diagram" id="0" name="" descr="3d illustration"/>
        </a:ext>
      </dgm:extLst>
    </dgm:pt>
    <dgm:pt modelId="{755F06DB-5949-46A4-9105-E04245598351}" type="pres">
      <dgm:prSet presAssocID="{F68A54A5-A2B3-4131-B38D-1794C6984FB2}" presName="Subtitle" presStyleLbl="revTx" presStyleIdx="4" presStyleCnt="6">
        <dgm:presLayoutVars>
          <dgm:chMax val="0"/>
          <dgm:bulletEnabled/>
        </dgm:presLayoutVars>
      </dgm:prSet>
      <dgm:spPr/>
    </dgm:pt>
    <dgm:pt modelId="{E266250F-5A09-47DA-8987-43EA32ACF069}" type="pres">
      <dgm:prSet presAssocID="{F68A54A5-A2B3-4131-B38D-1794C6984FB2}" presName="Description" presStyleLbl="revTx" presStyleIdx="5" presStyleCnt="6">
        <dgm:presLayoutVars>
          <dgm:bulletEnabled/>
        </dgm:presLayoutVars>
      </dgm:prSet>
      <dgm:spPr/>
    </dgm:pt>
  </dgm:ptLst>
  <dgm:cxnLst>
    <dgm:cxn modelId="{4FE70808-462B-44BC-B767-EA1F65492FFA}" srcId="{B98DFDD8-60BF-4580-B915-D4FD86950C52}" destId="{5FCBBC3F-101F-46A4-A4BC-0D31D34A8B0A}" srcOrd="0" destOrd="0" parTransId="{DC381C9A-55E7-4175-B1AD-A0579457FB04}" sibTransId="{D445D156-A601-4911-A6DD-15E0A5CDE491}"/>
    <dgm:cxn modelId="{03057C13-A43F-4EF5-9155-6354CA27D38A}" type="presOf" srcId="{C09DADF7-76C8-4FB1-8CC6-AF6EB722ADCE}" destId="{0FE5A6B7-EF79-4B0E-BC9C-28F0971F51FB}" srcOrd="0" destOrd="0" presId="urn:microsoft.com/office/officeart/2024/3/layout/verticalVisualTextBlock1"/>
    <dgm:cxn modelId="{9739043A-8F23-4367-8063-EF3E7631671A}" srcId="{C09DADF7-76C8-4FB1-8CC6-AF6EB722ADCE}" destId="{035C521D-E477-4E7A-9074-DA0BF64C8A2C}" srcOrd="0" destOrd="0" parTransId="{8709CB3D-AC8E-427D-9653-0975717E758D}" sibTransId="{78846C67-DF88-4178-8FFC-30E2846BD986}"/>
    <dgm:cxn modelId="{D7AA1965-AD88-439E-B277-8860834250B1}" type="presOf" srcId="{035C521D-E477-4E7A-9074-DA0BF64C8A2C}" destId="{56AD14D6-CC1D-43C2-A60F-48F966EF8226}" srcOrd="0" destOrd="0" presId="urn:microsoft.com/office/officeart/2024/3/layout/verticalVisualTextBlock1"/>
    <dgm:cxn modelId="{572D1C4B-0870-4680-A639-CD86C22CBB46}" srcId="{C09DADF7-76C8-4FB1-8CC6-AF6EB722ADCE}" destId="{B98DFDD8-60BF-4580-B915-D4FD86950C52}" srcOrd="1" destOrd="0" parTransId="{A3CA1363-9F48-428D-A47A-817E33DA7B2E}" sibTransId="{885CF6D6-ED5B-493C-B82B-8FA610008236}"/>
    <dgm:cxn modelId="{3FED914D-1991-4C11-A9EE-4D768A16EA1B}" srcId="{035C521D-E477-4E7A-9074-DA0BF64C8A2C}" destId="{63DA737D-9C0A-4250-9EFF-FD207FF1BDEC}" srcOrd="0" destOrd="0" parTransId="{76E19794-F3A2-4266-A9BD-91AA9EDDD31D}" sibTransId="{E86C1F8A-B408-45E3-8C2E-A6B7162EFB91}"/>
    <dgm:cxn modelId="{F74D1F76-3CDD-4320-8DCA-8103F74F6045}" type="presOf" srcId="{B98DFDD8-60BF-4580-B915-D4FD86950C52}" destId="{360A0F21-C536-4F05-94A3-18BBC84F340B}" srcOrd="0" destOrd="0" presId="urn:microsoft.com/office/officeart/2024/3/layout/verticalVisualTextBlock1"/>
    <dgm:cxn modelId="{1829EF77-A7BF-444B-82CD-9373FA2124A4}" type="presOf" srcId="{63DA737D-9C0A-4250-9EFF-FD207FF1BDEC}" destId="{35B66A5A-CC58-4CCE-9D54-60A863E94CED}" srcOrd="0" destOrd="0" presId="urn:microsoft.com/office/officeart/2024/3/layout/verticalVisualTextBlock1"/>
    <dgm:cxn modelId="{EC7E8278-671B-4C2A-91FB-28E5942E47BA}" srcId="{C09DADF7-76C8-4FB1-8CC6-AF6EB722ADCE}" destId="{F68A54A5-A2B3-4131-B38D-1794C6984FB2}" srcOrd="2" destOrd="0" parTransId="{EE7028D6-10CA-48F5-8550-A8E1DAF944BB}" sibTransId="{578AB677-D70A-47B2-9D86-B5A524750A63}"/>
    <dgm:cxn modelId="{6FA8EAAF-F231-4B40-88FB-9A570CC7814C}" type="presOf" srcId="{885CF6D6-ED5B-493C-B82B-8FA610008236}" destId="{020304F2-EC9B-400A-ABAB-994F9762B8B2}" srcOrd="0" destOrd="0" presId="urn:microsoft.com/office/officeart/2024/3/layout/verticalVisualTextBlock1"/>
    <dgm:cxn modelId="{02A9F8B3-5CBA-4933-91A5-51B5A8D5511A}" type="presOf" srcId="{66405748-610D-4C3E-B5D3-16F012B3F990}" destId="{E266250F-5A09-47DA-8987-43EA32ACF069}" srcOrd="0" destOrd="0" presId="urn:microsoft.com/office/officeart/2024/3/layout/verticalVisualTextBlock1"/>
    <dgm:cxn modelId="{8F0303C7-6BE7-40D9-9021-88F2B5B56672}" type="presOf" srcId="{78846C67-DF88-4178-8FFC-30E2846BD986}" destId="{7C9C3D3D-04D3-472F-A4D2-00A8E783AAAB}" srcOrd="0" destOrd="0" presId="urn:microsoft.com/office/officeart/2024/3/layout/verticalVisualTextBlock1"/>
    <dgm:cxn modelId="{53A463D7-D84E-4F89-885D-7D2B10B41781}" type="presOf" srcId="{5FCBBC3F-101F-46A4-A4BC-0D31D34A8B0A}" destId="{8C2E6916-B8CC-4AA8-92ED-552A87F9F053}" srcOrd="0" destOrd="0" presId="urn:microsoft.com/office/officeart/2024/3/layout/verticalVisualTextBlock1"/>
    <dgm:cxn modelId="{BCC0FEFD-F39A-46C0-9225-23EABC0083B2}" srcId="{F68A54A5-A2B3-4131-B38D-1794C6984FB2}" destId="{66405748-610D-4C3E-B5D3-16F012B3F990}" srcOrd="0" destOrd="0" parTransId="{1A61D5D7-8537-48E4-A9C2-9C82D9783B65}" sibTransId="{E5143DE3-6CDA-47E1-AC98-570B0E4C7208}"/>
    <dgm:cxn modelId="{17ADA3FF-0B8C-4C43-82C6-8C9D86F7FD7D}" type="presOf" srcId="{F68A54A5-A2B3-4131-B38D-1794C6984FB2}" destId="{755F06DB-5949-46A4-9105-E04245598351}" srcOrd="0" destOrd="0" presId="urn:microsoft.com/office/officeart/2024/3/layout/verticalVisualTextBlock1"/>
    <dgm:cxn modelId="{24CF3E70-0844-4362-9034-54FFC1F0085B}" type="presParOf" srcId="{0FE5A6B7-EF79-4B0E-BC9C-28F0971F51FB}" destId="{5D01DC39-98AF-4A16-B51E-C015F4747B89}" srcOrd="0" destOrd="0" presId="urn:microsoft.com/office/officeart/2024/3/layout/verticalVisualTextBlock1"/>
    <dgm:cxn modelId="{BB6CEF68-9D46-4667-B078-B0D6FCDF0152}" type="presParOf" srcId="{5D01DC39-98AF-4A16-B51E-C015F4747B89}" destId="{7A06146C-E853-418D-A5CF-2C81F4C2CC9A}" srcOrd="0" destOrd="0" presId="urn:microsoft.com/office/officeart/2024/3/layout/verticalVisualTextBlock1"/>
    <dgm:cxn modelId="{40323EBB-A31A-4DFD-8F31-568DE16685AC}" type="presParOf" srcId="{5D01DC39-98AF-4A16-B51E-C015F4747B89}" destId="{56AD14D6-CC1D-43C2-A60F-48F966EF8226}" srcOrd="1" destOrd="0" presId="urn:microsoft.com/office/officeart/2024/3/layout/verticalVisualTextBlock1"/>
    <dgm:cxn modelId="{1867406B-9EEF-4F92-95F6-FA42E519C05C}" type="presParOf" srcId="{5D01DC39-98AF-4A16-B51E-C015F4747B89}" destId="{35B66A5A-CC58-4CCE-9D54-60A863E94CED}" srcOrd="2" destOrd="0" presId="urn:microsoft.com/office/officeart/2024/3/layout/verticalVisualTextBlock1"/>
    <dgm:cxn modelId="{07BC563B-29B4-467E-9813-07ED9BA7563A}" type="presParOf" srcId="{0FE5A6B7-EF79-4B0E-BC9C-28F0971F51FB}" destId="{7C9C3D3D-04D3-472F-A4D2-00A8E783AAAB}" srcOrd="1" destOrd="0" presId="urn:microsoft.com/office/officeart/2024/3/layout/verticalVisualTextBlock1"/>
    <dgm:cxn modelId="{517D83A2-3C62-42B5-85B2-0AAD9CFD38E7}" type="presParOf" srcId="{0FE5A6B7-EF79-4B0E-BC9C-28F0971F51FB}" destId="{99CA203E-5A07-4C06-A139-EDF5E39EE9CC}" srcOrd="2" destOrd="0" presId="urn:microsoft.com/office/officeart/2024/3/layout/verticalVisualTextBlock1"/>
    <dgm:cxn modelId="{1EEA6AB0-1819-4186-8661-B55E82D959C3}" type="presParOf" srcId="{99CA203E-5A07-4C06-A139-EDF5E39EE9CC}" destId="{4582AE4F-359D-44F4-AB70-382079C4BD4E}" srcOrd="0" destOrd="0" presId="urn:microsoft.com/office/officeart/2024/3/layout/verticalVisualTextBlock1"/>
    <dgm:cxn modelId="{87AA112A-4737-4F5C-B7B3-F7BEB54D84A5}" type="presParOf" srcId="{99CA203E-5A07-4C06-A139-EDF5E39EE9CC}" destId="{360A0F21-C536-4F05-94A3-18BBC84F340B}" srcOrd="1" destOrd="0" presId="urn:microsoft.com/office/officeart/2024/3/layout/verticalVisualTextBlock1"/>
    <dgm:cxn modelId="{3C1A06F8-F400-4121-93ED-2982BAEA25EC}" type="presParOf" srcId="{99CA203E-5A07-4C06-A139-EDF5E39EE9CC}" destId="{8C2E6916-B8CC-4AA8-92ED-552A87F9F053}" srcOrd="2" destOrd="0" presId="urn:microsoft.com/office/officeart/2024/3/layout/verticalVisualTextBlock1"/>
    <dgm:cxn modelId="{4B6E9501-0714-4984-917E-448AD84B5F90}" type="presParOf" srcId="{0FE5A6B7-EF79-4B0E-BC9C-28F0971F51FB}" destId="{020304F2-EC9B-400A-ABAB-994F9762B8B2}" srcOrd="3" destOrd="0" presId="urn:microsoft.com/office/officeart/2024/3/layout/verticalVisualTextBlock1"/>
    <dgm:cxn modelId="{69495445-466B-4ABD-9DB0-EE23508C3B9A}" type="presParOf" srcId="{0FE5A6B7-EF79-4B0E-BC9C-28F0971F51FB}" destId="{39A77321-5B05-4FF1-9717-F194ABF4C22B}" srcOrd="4" destOrd="0" presId="urn:microsoft.com/office/officeart/2024/3/layout/verticalVisualTextBlock1"/>
    <dgm:cxn modelId="{BE562F26-50C6-4526-926D-DEDD92082280}" type="presParOf" srcId="{39A77321-5B05-4FF1-9717-F194ABF4C22B}" destId="{AB37B594-BD7F-4F4C-B05A-F5097626FF37}" srcOrd="0" destOrd="0" presId="urn:microsoft.com/office/officeart/2024/3/layout/verticalVisualTextBlock1"/>
    <dgm:cxn modelId="{E137F1E4-5BD9-49A9-AB01-D09EDD8644E5}" type="presParOf" srcId="{39A77321-5B05-4FF1-9717-F194ABF4C22B}" destId="{755F06DB-5949-46A4-9105-E04245598351}" srcOrd="1" destOrd="0" presId="urn:microsoft.com/office/officeart/2024/3/layout/verticalVisualTextBlock1"/>
    <dgm:cxn modelId="{F1654EA9-DAEB-425F-BCBD-460A8C280E7E}" type="presParOf" srcId="{39A77321-5B05-4FF1-9717-F194ABF4C22B}" destId="{E266250F-5A09-47DA-8987-43EA32ACF069}"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06146C-E853-418D-A5CF-2C81F4C2CC9A}">
      <dsp:nvSpPr>
        <dsp:cNvPr id="0" name=""/>
        <dsp:cNvSpPr/>
      </dsp:nvSpPr>
      <dsp:spPr>
        <a:xfrm>
          <a:off x="0" y="0"/>
          <a:ext cx="1809729" cy="180972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22444" r="21304" b="-3"/>
          <a:stretch/>
        </a:blipFill>
        <a:ln>
          <a:noFill/>
        </a:ln>
        <a:effectLst/>
      </dsp:spPr>
      <dsp:style>
        <a:lnRef idx="0">
          <a:scrgbClr r="0" g="0" b="0"/>
        </a:lnRef>
        <a:fillRef idx="3">
          <a:scrgbClr r="0" g="0" b="0"/>
        </a:fillRef>
        <a:effectRef idx="2">
          <a:scrgbClr r="0" g="0" b="0"/>
        </a:effectRef>
        <a:fontRef idx="minor">
          <a:schemeClr val="lt1"/>
        </a:fontRef>
      </dsp:style>
    </dsp:sp>
    <dsp:sp modelId="{56AD14D6-CC1D-43C2-A60F-48F966EF8226}">
      <dsp:nvSpPr>
        <dsp:cNvPr id="0" name=""/>
        <dsp:cNvSpPr/>
      </dsp:nvSpPr>
      <dsp:spPr>
        <a:xfrm>
          <a:off x="1989729" y="0"/>
          <a:ext cx="4200050" cy="36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Customer Onboarding Efficiency</a:t>
          </a:r>
        </a:p>
      </dsp:txBody>
      <dsp:txXfrm>
        <a:off x="1989729" y="0"/>
        <a:ext cx="4200050" cy="368353"/>
      </dsp:txXfrm>
    </dsp:sp>
    <dsp:sp modelId="{35B66A5A-CC58-4CCE-9D54-60A863E94CED}">
      <dsp:nvSpPr>
        <dsp:cNvPr id="0" name=""/>
        <dsp:cNvSpPr/>
      </dsp:nvSpPr>
      <dsp:spPr>
        <a:xfrm>
          <a:off x="1989729" y="368353"/>
          <a:ext cx="4200050" cy="144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RPA significantly improves the efficiency of customer onboarding processes in telecommunications, reducing time and effort.</a:t>
          </a:r>
        </a:p>
      </dsp:txBody>
      <dsp:txXfrm>
        <a:off x="1989729" y="368353"/>
        <a:ext cx="4200050" cy="1441375"/>
      </dsp:txXfrm>
    </dsp:sp>
    <dsp:sp modelId="{4582AE4F-359D-44F4-AB70-382079C4BD4E}">
      <dsp:nvSpPr>
        <dsp:cNvPr id="0" name=""/>
        <dsp:cNvSpPr/>
      </dsp:nvSpPr>
      <dsp:spPr>
        <a:xfrm>
          <a:off x="0" y="1954508"/>
          <a:ext cx="1809729" cy="1809729"/>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17327" r="13925" b="3"/>
          <a:stretch/>
        </a:blipFill>
        <a:ln>
          <a:noFill/>
        </a:ln>
        <a:effectLst/>
      </dsp:spPr>
      <dsp:style>
        <a:lnRef idx="0">
          <a:scrgbClr r="0" g="0" b="0"/>
        </a:lnRef>
        <a:fillRef idx="3">
          <a:scrgbClr r="0" g="0" b="0"/>
        </a:fillRef>
        <a:effectRef idx="2">
          <a:scrgbClr r="0" g="0" b="0"/>
        </a:effectRef>
        <a:fontRef idx="minor">
          <a:schemeClr val="lt1"/>
        </a:fontRef>
      </dsp:style>
    </dsp:sp>
    <dsp:sp modelId="{360A0F21-C536-4F05-94A3-18BBC84F340B}">
      <dsp:nvSpPr>
        <dsp:cNvPr id="0" name=""/>
        <dsp:cNvSpPr/>
      </dsp:nvSpPr>
      <dsp:spPr>
        <a:xfrm>
          <a:off x="1989729" y="1954508"/>
          <a:ext cx="4200050" cy="36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Service Provisioning Enhancement</a:t>
          </a:r>
        </a:p>
      </dsp:txBody>
      <dsp:txXfrm>
        <a:off x="1989729" y="1954508"/>
        <a:ext cx="4200050" cy="368353"/>
      </dsp:txXfrm>
    </dsp:sp>
    <dsp:sp modelId="{8C2E6916-B8CC-4AA8-92ED-552A87F9F053}">
      <dsp:nvSpPr>
        <dsp:cNvPr id="0" name=""/>
        <dsp:cNvSpPr/>
      </dsp:nvSpPr>
      <dsp:spPr>
        <a:xfrm>
          <a:off x="1989729" y="2322862"/>
          <a:ext cx="4200050" cy="144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RPA enhances service provisioning by automating routine tasks, ensuring faster and more reliable service delivery.</a:t>
          </a:r>
        </a:p>
      </dsp:txBody>
      <dsp:txXfrm>
        <a:off x="1989729" y="2322862"/>
        <a:ext cx="4200050" cy="1441375"/>
      </dsp:txXfrm>
    </dsp:sp>
    <dsp:sp modelId="{AB37B594-BD7F-4F4C-B05A-F5097626FF37}">
      <dsp:nvSpPr>
        <dsp:cNvPr id="0" name=""/>
        <dsp:cNvSpPr/>
      </dsp:nvSpPr>
      <dsp:spPr>
        <a:xfrm>
          <a:off x="0" y="3909016"/>
          <a:ext cx="1809729" cy="180972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r="-7" b="-7"/>
          <a:stretch/>
        </a:blipFill>
        <a:ln>
          <a:noFill/>
        </a:ln>
        <a:effectLst/>
      </dsp:spPr>
      <dsp:style>
        <a:lnRef idx="0">
          <a:scrgbClr r="0" g="0" b="0"/>
        </a:lnRef>
        <a:fillRef idx="3">
          <a:scrgbClr r="0" g="0" b="0"/>
        </a:fillRef>
        <a:effectRef idx="2">
          <a:scrgbClr r="0" g="0" b="0"/>
        </a:effectRef>
        <a:fontRef idx="minor">
          <a:schemeClr val="lt1"/>
        </a:fontRef>
      </dsp:style>
    </dsp:sp>
    <dsp:sp modelId="{755F06DB-5949-46A4-9105-E04245598351}">
      <dsp:nvSpPr>
        <dsp:cNvPr id="0" name=""/>
        <dsp:cNvSpPr/>
      </dsp:nvSpPr>
      <dsp:spPr>
        <a:xfrm>
          <a:off x="1989729" y="3909016"/>
          <a:ext cx="4200050" cy="3683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Billing Process Automation</a:t>
          </a:r>
        </a:p>
      </dsp:txBody>
      <dsp:txXfrm>
        <a:off x="1989729" y="3909016"/>
        <a:ext cx="4200050" cy="368353"/>
      </dsp:txXfrm>
    </dsp:sp>
    <dsp:sp modelId="{E266250F-5A09-47DA-8987-43EA32ACF069}">
      <dsp:nvSpPr>
        <dsp:cNvPr id="0" name=""/>
        <dsp:cNvSpPr/>
      </dsp:nvSpPr>
      <dsp:spPr>
        <a:xfrm>
          <a:off x="1989729" y="4277370"/>
          <a:ext cx="4200050" cy="144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Automation of billing processes through RPA leads to increased accuracy and reduced errors in billing statements.</a:t>
          </a:r>
        </a:p>
      </dsp:txBody>
      <dsp:txXfrm>
        <a:off x="1989729" y="4277370"/>
        <a:ext cx="4200050" cy="1441375"/>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637265-33F7-403A-BB38-E97881F7B0BF}" type="datetimeFigureOut">
              <a:rPr lang="en-US" smtClean="0"/>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49638D-16A6-416A-BCA5-4861AC5DFBE3}" type="slidenum">
              <a:rPr lang="en-US" smtClean="0"/>
              <a:t>‹#›</a:t>
            </a:fld>
            <a:endParaRPr lang="en-US"/>
          </a:p>
        </p:txBody>
      </p:sp>
    </p:spTree>
    <p:extLst>
      <p:ext uri="{BB962C8B-B14F-4D97-AF65-F5344CB8AC3E}">
        <p14:creationId xmlns:p14="http://schemas.microsoft.com/office/powerpoint/2010/main" val="1980292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In this presentation, we will explore successful cases of Robotic Process Automation (RPA) in various industries, highlighting real companies that have leveraged RPA to enhance efficiency and reduce costs.
</a:t>
            </a:r>
          </a:p>
        </p:txBody>
      </p:sp>
      <p:sp>
        <p:nvSpPr>
          <p:cNvPr id="4" name="Slide Number Placeholder 3"/>
          <p:cNvSpPr>
            <a:spLocks noGrp="1"/>
          </p:cNvSpPr>
          <p:nvPr>
            <p:ph type="sldNum" sz="quarter" idx="5"/>
          </p:nvPr>
        </p:nvSpPr>
        <p:spPr/>
        <p:txBody>
          <a:bodyPr/>
          <a:lstStyle/>
          <a:p>
            <a:fld id="{93AF1C4A-08F6-409B-8121-D75A461C7925}" type="slidenum">
              <a:rPr lang="en-US" smtClean="0"/>
              <a:t>1</a:t>
            </a:fld>
            <a:endParaRPr lang="en-US"/>
          </a:p>
        </p:txBody>
      </p:sp>
    </p:spTree>
    <p:extLst>
      <p:ext uri="{BB962C8B-B14F-4D97-AF65-F5344CB8AC3E}">
        <p14:creationId xmlns:p14="http://schemas.microsoft.com/office/powerpoint/2010/main" val="2657271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presentation will first introduce the concept of RPA, followed by discussing its applications across different industries. Finally, we will delve into specific case studies of companies that have successfully implemented RPA.</a:t>
            </a:r>
          </a:p>
        </p:txBody>
      </p:sp>
      <p:sp>
        <p:nvSpPr>
          <p:cNvPr id="4" name="Slide Number Placeholder 3"/>
          <p:cNvSpPr>
            <a:spLocks noGrp="1"/>
          </p:cNvSpPr>
          <p:nvPr>
            <p:ph type="sldNum" sz="quarter" idx="5"/>
          </p:nvPr>
        </p:nvSpPr>
        <p:spPr/>
        <p:txBody>
          <a:bodyPr/>
          <a:lstStyle/>
          <a:p>
            <a:fld id="{93AF1C4A-08F6-409B-8121-D75A461C7925}" type="slidenum">
              <a:rPr lang="en-US" smtClean="0"/>
              <a:t>2</a:t>
            </a:fld>
            <a:endParaRPr lang="en-US"/>
          </a:p>
        </p:txBody>
      </p:sp>
    </p:spTree>
    <p:extLst>
      <p:ext uri="{BB962C8B-B14F-4D97-AF65-F5344CB8AC3E}">
        <p14:creationId xmlns:p14="http://schemas.microsoft.com/office/powerpoint/2010/main" val="2834869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RPA is a technology that uses software robots to automate routine tasks. It allows businesses to streamline processes, minimize errors, and free up human resources for more strategic tasks.</a:t>
            </a:r>
          </a:p>
        </p:txBody>
      </p:sp>
      <p:sp>
        <p:nvSpPr>
          <p:cNvPr id="4" name="Slide Number Placeholder 3"/>
          <p:cNvSpPr>
            <a:spLocks noGrp="1"/>
          </p:cNvSpPr>
          <p:nvPr>
            <p:ph type="sldNum" sz="quarter" idx="5"/>
          </p:nvPr>
        </p:nvSpPr>
        <p:spPr/>
        <p:txBody>
          <a:bodyPr/>
          <a:lstStyle/>
          <a:p>
            <a:fld id="{93AF1C4A-08F6-409B-8121-D75A461C7925}" type="slidenum">
              <a:rPr lang="en-US" smtClean="0"/>
              <a:t>3</a:t>
            </a:fld>
            <a:endParaRPr lang="en-US"/>
          </a:p>
        </p:txBody>
      </p:sp>
    </p:spTree>
    <p:extLst>
      <p:ext uri="{BB962C8B-B14F-4D97-AF65-F5344CB8AC3E}">
        <p14:creationId xmlns:p14="http://schemas.microsoft.com/office/powerpoint/2010/main" val="9537729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main benefits of RPA include increased efficiency, reduced operational costs, enhanced accuracy, and improved compliance. It enables organizations to scale processes without affecting service quality.</a:t>
            </a:r>
          </a:p>
        </p:txBody>
      </p:sp>
      <p:sp>
        <p:nvSpPr>
          <p:cNvPr id="4" name="Slide Number Placeholder 3"/>
          <p:cNvSpPr>
            <a:spLocks noGrp="1"/>
          </p:cNvSpPr>
          <p:nvPr>
            <p:ph type="sldNum" sz="quarter" idx="5"/>
          </p:nvPr>
        </p:nvSpPr>
        <p:spPr/>
        <p:txBody>
          <a:bodyPr/>
          <a:lstStyle/>
          <a:p>
            <a:fld id="{93AF1C4A-08F6-409B-8121-D75A461C7925}" type="slidenum">
              <a:rPr lang="en-US" smtClean="0"/>
              <a:t>4</a:t>
            </a:fld>
            <a:endParaRPr lang="en-US"/>
          </a:p>
        </p:txBody>
      </p:sp>
    </p:spTree>
    <p:extLst>
      <p:ext uri="{BB962C8B-B14F-4D97-AF65-F5344CB8AC3E}">
        <p14:creationId xmlns:p14="http://schemas.microsoft.com/office/powerpoint/2010/main" val="3224367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RPA is applied across various industries, including finance, healthcare, retail, and manufacturing. Each sector leverages RPA to address specific operational challenges and improve workflows.</a:t>
            </a:r>
          </a:p>
        </p:txBody>
      </p:sp>
      <p:sp>
        <p:nvSpPr>
          <p:cNvPr id="4" name="Slide Number Placeholder 3"/>
          <p:cNvSpPr>
            <a:spLocks noGrp="1"/>
          </p:cNvSpPr>
          <p:nvPr>
            <p:ph type="sldNum" sz="quarter" idx="5"/>
          </p:nvPr>
        </p:nvSpPr>
        <p:spPr/>
        <p:txBody>
          <a:bodyPr/>
          <a:lstStyle/>
          <a:p>
            <a:fld id="{93AF1C4A-08F6-409B-8121-D75A461C7925}" type="slidenum">
              <a:rPr lang="en-US" smtClean="0"/>
              <a:t>5</a:t>
            </a:fld>
            <a:endParaRPr lang="en-US"/>
          </a:p>
        </p:txBody>
      </p:sp>
    </p:spTree>
    <p:extLst>
      <p:ext uri="{BB962C8B-B14F-4D97-AF65-F5344CB8AC3E}">
        <p14:creationId xmlns:p14="http://schemas.microsoft.com/office/powerpoint/2010/main" val="40721475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the finance industry, RPA is used to automate repetitive tasks such as transaction processing, compliance checks, and report generation, leading to significant time savings.</a:t>
            </a:r>
          </a:p>
        </p:txBody>
      </p:sp>
      <p:sp>
        <p:nvSpPr>
          <p:cNvPr id="4" name="Slide Number Placeholder 3"/>
          <p:cNvSpPr>
            <a:spLocks noGrp="1"/>
          </p:cNvSpPr>
          <p:nvPr>
            <p:ph type="sldNum" sz="quarter" idx="5"/>
          </p:nvPr>
        </p:nvSpPr>
        <p:spPr/>
        <p:txBody>
          <a:bodyPr/>
          <a:lstStyle/>
          <a:p>
            <a:fld id="{93AF1C4A-08F6-409B-8121-D75A461C7925}" type="slidenum">
              <a:rPr lang="en-US" smtClean="0"/>
              <a:t>6</a:t>
            </a:fld>
            <a:endParaRPr lang="en-US"/>
          </a:p>
        </p:txBody>
      </p:sp>
    </p:spTree>
    <p:extLst>
      <p:ext uri="{BB962C8B-B14F-4D97-AF65-F5344CB8AC3E}">
        <p14:creationId xmlns:p14="http://schemas.microsoft.com/office/powerpoint/2010/main" val="8388538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Deloitte implemented RPA in its financial services, automating over 40 processes. This led to reduced processing time by 75% and improved accuracy in their operations.</a:t>
            </a:r>
          </a:p>
        </p:txBody>
      </p:sp>
      <p:sp>
        <p:nvSpPr>
          <p:cNvPr id="4" name="Slide Number Placeholder 3"/>
          <p:cNvSpPr>
            <a:spLocks noGrp="1"/>
          </p:cNvSpPr>
          <p:nvPr>
            <p:ph type="sldNum" sz="quarter" idx="5"/>
          </p:nvPr>
        </p:nvSpPr>
        <p:spPr/>
        <p:txBody>
          <a:bodyPr/>
          <a:lstStyle/>
          <a:p>
            <a:fld id="{93AF1C4A-08F6-409B-8121-D75A461C7925}" type="slidenum">
              <a:rPr lang="en-US" smtClean="0"/>
              <a:t>7</a:t>
            </a:fld>
            <a:endParaRPr lang="en-US"/>
          </a:p>
        </p:txBody>
      </p:sp>
    </p:spTree>
    <p:extLst>
      <p:ext uri="{BB962C8B-B14F-4D97-AF65-F5344CB8AC3E}">
        <p14:creationId xmlns:p14="http://schemas.microsoft.com/office/powerpoint/2010/main" val="42236921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healthcare, RPA assists in patient registration, appointment scheduling, and billing processes. This helps reduce administrative burdens on staff.</a:t>
            </a:r>
          </a:p>
        </p:txBody>
      </p:sp>
      <p:sp>
        <p:nvSpPr>
          <p:cNvPr id="4" name="Slide Number Placeholder 3"/>
          <p:cNvSpPr>
            <a:spLocks noGrp="1"/>
          </p:cNvSpPr>
          <p:nvPr>
            <p:ph type="sldNum" sz="quarter" idx="5"/>
          </p:nvPr>
        </p:nvSpPr>
        <p:spPr/>
        <p:txBody>
          <a:bodyPr/>
          <a:lstStyle/>
          <a:p>
            <a:fld id="{93AF1C4A-08F6-409B-8121-D75A461C7925}" type="slidenum">
              <a:rPr lang="en-US" smtClean="0"/>
              <a:t>8</a:t>
            </a:fld>
            <a:endParaRPr lang="en-US"/>
          </a:p>
        </p:txBody>
      </p:sp>
    </p:spTree>
    <p:extLst>
      <p:ext uri="{BB962C8B-B14F-4D97-AF65-F5344CB8AC3E}">
        <p14:creationId xmlns:p14="http://schemas.microsoft.com/office/powerpoint/2010/main" val="5221691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Anthem, a leading health insurance provider, utilized RPA to automate claims processing, resulting in a 90% reduction in processing time and improved customer satisfaction.</a:t>
            </a:r>
          </a:p>
        </p:txBody>
      </p:sp>
      <p:sp>
        <p:nvSpPr>
          <p:cNvPr id="4" name="Slide Number Placeholder 3"/>
          <p:cNvSpPr>
            <a:spLocks noGrp="1"/>
          </p:cNvSpPr>
          <p:nvPr>
            <p:ph type="sldNum" sz="quarter" idx="5"/>
          </p:nvPr>
        </p:nvSpPr>
        <p:spPr/>
        <p:txBody>
          <a:bodyPr/>
          <a:lstStyle/>
          <a:p>
            <a:fld id="{93AF1C4A-08F6-409B-8121-D75A461C7925}" type="slidenum">
              <a:rPr lang="en-US" smtClean="0"/>
              <a:t>9</a:t>
            </a:fld>
            <a:endParaRPr lang="en-US"/>
          </a:p>
        </p:txBody>
      </p:sp>
    </p:spTree>
    <p:extLst>
      <p:ext uri="{BB962C8B-B14F-4D97-AF65-F5344CB8AC3E}">
        <p14:creationId xmlns:p14="http://schemas.microsoft.com/office/powerpoint/2010/main" val="29012482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RPA in retail helps in inventory management, order processing, and customer service, enhancing operational efficiency and improving customer experiences.</a:t>
            </a:r>
          </a:p>
        </p:txBody>
      </p:sp>
      <p:sp>
        <p:nvSpPr>
          <p:cNvPr id="4" name="Slide Number Placeholder 3"/>
          <p:cNvSpPr>
            <a:spLocks noGrp="1"/>
          </p:cNvSpPr>
          <p:nvPr>
            <p:ph type="sldNum" sz="quarter" idx="5"/>
          </p:nvPr>
        </p:nvSpPr>
        <p:spPr/>
        <p:txBody>
          <a:bodyPr/>
          <a:lstStyle/>
          <a:p>
            <a:fld id="{93AF1C4A-08F6-409B-8121-D75A461C7925}" type="slidenum">
              <a:rPr lang="en-US" smtClean="0"/>
              <a:t>10</a:t>
            </a:fld>
            <a:endParaRPr lang="en-US"/>
          </a:p>
        </p:txBody>
      </p:sp>
    </p:spTree>
    <p:extLst>
      <p:ext uri="{BB962C8B-B14F-4D97-AF65-F5344CB8AC3E}">
        <p14:creationId xmlns:p14="http://schemas.microsoft.com/office/powerpoint/2010/main" val="33342548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Walmart implemented RPA for inventory management, leading to a more streamlined supply chain, reduced stockouts, and improved inventory accuracy.</a:t>
            </a:r>
          </a:p>
        </p:txBody>
      </p:sp>
      <p:sp>
        <p:nvSpPr>
          <p:cNvPr id="4" name="Slide Number Placeholder 3"/>
          <p:cNvSpPr>
            <a:spLocks noGrp="1"/>
          </p:cNvSpPr>
          <p:nvPr>
            <p:ph type="sldNum" sz="quarter" idx="5"/>
          </p:nvPr>
        </p:nvSpPr>
        <p:spPr/>
        <p:txBody>
          <a:bodyPr/>
          <a:lstStyle/>
          <a:p>
            <a:fld id="{93AF1C4A-08F6-409B-8121-D75A461C7925}" type="slidenum">
              <a:rPr lang="en-US" smtClean="0"/>
              <a:t>11</a:t>
            </a:fld>
            <a:endParaRPr lang="en-US"/>
          </a:p>
        </p:txBody>
      </p:sp>
    </p:spTree>
    <p:extLst>
      <p:ext uri="{BB962C8B-B14F-4D97-AF65-F5344CB8AC3E}">
        <p14:creationId xmlns:p14="http://schemas.microsoft.com/office/powerpoint/2010/main" val="29325232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manufacturing, RPA is used for supply chain management, quality control, and production scheduling, resulting in reduced downtime and increased productivity.</a:t>
            </a:r>
          </a:p>
        </p:txBody>
      </p:sp>
      <p:sp>
        <p:nvSpPr>
          <p:cNvPr id="4" name="Slide Number Placeholder 3"/>
          <p:cNvSpPr>
            <a:spLocks noGrp="1"/>
          </p:cNvSpPr>
          <p:nvPr>
            <p:ph type="sldNum" sz="quarter" idx="5"/>
          </p:nvPr>
        </p:nvSpPr>
        <p:spPr/>
        <p:txBody>
          <a:bodyPr/>
          <a:lstStyle/>
          <a:p>
            <a:fld id="{93AF1C4A-08F6-409B-8121-D75A461C7925}" type="slidenum">
              <a:rPr lang="en-US" smtClean="0"/>
              <a:t>12</a:t>
            </a:fld>
            <a:endParaRPr lang="en-US"/>
          </a:p>
        </p:txBody>
      </p:sp>
    </p:spTree>
    <p:extLst>
      <p:ext uri="{BB962C8B-B14F-4D97-AF65-F5344CB8AC3E}">
        <p14:creationId xmlns:p14="http://schemas.microsoft.com/office/powerpoint/2010/main" val="1738948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Siemens employed RPA to automate its supply chain processes, achieving a 50% reduction in order processing time and streamlined communications with suppliers.</a:t>
            </a:r>
          </a:p>
        </p:txBody>
      </p:sp>
      <p:sp>
        <p:nvSpPr>
          <p:cNvPr id="4" name="Slide Number Placeholder 3"/>
          <p:cNvSpPr>
            <a:spLocks noGrp="1"/>
          </p:cNvSpPr>
          <p:nvPr>
            <p:ph type="sldNum" sz="quarter" idx="5"/>
          </p:nvPr>
        </p:nvSpPr>
        <p:spPr/>
        <p:txBody>
          <a:bodyPr/>
          <a:lstStyle/>
          <a:p>
            <a:fld id="{93AF1C4A-08F6-409B-8121-D75A461C7925}" type="slidenum">
              <a:rPr lang="en-US" smtClean="0"/>
              <a:t>13</a:t>
            </a:fld>
            <a:endParaRPr lang="en-US"/>
          </a:p>
        </p:txBody>
      </p:sp>
    </p:spTree>
    <p:extLst>
      <p:ext uri="{BB962C8B-B14F-4D97-AF65-F5344CB8AC3E}">
        <p14:creationId xmlns:p14="http://schemas.microsoft.com/office/powerpoint/2010/main" val="33446140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RPA streamlines customer onboarding, service provisioning, and billing processes in telecommunications, helping companies enhance service delivery.</a:t>
            </a:r>
          </a:p>
        </p:txBody>
      </p:sp>
      <p:sp>
        <p:nvSpPr>
          <p:cNvPr id="4" name="Slide Number Placeholder 3"/>
          <p:cNvSpPr>
            <a:spLocks noGrp="1"/>
          </p:cNvSpPr>
          <p:nvPr>
            <p:ph type="sldNum" sz="quarter" idx="5"/>
          </p:nvPr>
        </p:nvSpPr>
        <p:spPr/>
        <p:txBody>
          <a:bodyPr/>
          <a:lstStyle/>
          <a:p>
            <a:fld id="{93AF1C4A-08F6-409B-8121-D75A461C7925}" type="slidenum">
              <a:rPr lang="en-US" smtClean="0"/>
              <a:t>14</a:t>
            </a:fld>
            <a:endParaRPr lang="en-US"/>
          </a:p>
        </p:txBody>
      </p:sp>
    </p:spTree>
    <p:extLst>
      <p:ext uri="{BB962C8B-B14F-4D97-AF65-F5344CB8AC3E}">
        <p14:creationId xmlns:p14="http://schemas.microsoft.com/office/powerpoint/2010/main" val="37164515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Vodafone integrated RPA to automate customer service inquiries, reducing response times by 80% and improving customer satisfaction ratings significantly.</a:t>
            </a:r>
          </a:p>
        </p:txBody>
      </p:sp>
      <p:sp>
        <p:nvSpPr>
          <p:cNvPr id="4" name="Slide Number Placeholder 3"/>
          <p:cNvSpPr>
            <a:spLocks noGrp="1"/>
          </p:cNvSpPr>
          <p:nvPr>
            <p:ph type="sldNum" sz="quarter" idx="5"/>
          </p:nvPr>
        </p:nvSpPr>
        <p:spPr/>
        <p:txBody>
          <a:bodyPr/>
          <a:lstStyle/>
          <a:p>
            <a:fld id="{93AF1C4A-08F6-409B-8121-D75A461C7925}" type="slidenum">
              <a:rPr lang="en-US" smtClean="0"/>
              <a:t>15</a:t>
            </a:fld>
            <a:endParaRPr lang="en-US"/>
          </a:p>
        </p:txBody>
      </p:sp>
    </p:spTree>
    <p:extLst>
      <p:ext uri="{BB962C8B-B14F-4D97-AF65-F5344CB8AC3E}">
        <p14:creationId xmlns:p14="http://schemas.microsoft.com/office/powerpoint/2010/main" val="8863675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the insurance sector, RPA aids in underwriting, claims processing, and regulatory compliance. This enhances operational efficiency and minimizes errors.</a:t>
            </a:r>
          </a:p>
        </p:txBody>
      </p:sp>
      <p:sp>
        <p:nvSpPr>
          <p:cNvPr id="4" name="Slide Number Placeholder 3"/>
          <p:cNvSpPr>
            <a:spLocks noGrp="1"/>
          </p:cNvSpPr>
          <p:nvPr>
            <p:ph type="sldNum" sz="quarter" idx="5"/>
          </p:nvPr>
        </p:nvSpPr>
        <p:spPr/>
        <p:txBody>
          <a:bodyPr/>
          <a:lstStyle/>
          <a:p>
            <a:fld id="{93AF1C4A-08F6-409B-8121-D75A461C7925}" type="slidenum">
              <a:rPr lang="en-US" smtClean="0"/>
              <a:t>16</a:t>
            </a:fld>
            <a:endParaRPr lang="en-US"/>
          </a:p>
        </p:txBody>
      </p:sp>
    </p:spTree>
    <p:extLst>
      <p:ext uri="{BB962C8B-B14F-4D97-AF65-F5344CB8AC3E}">
        <p14:creationId xmlns:p14="http://schemas.microsoft.com/office/powerpoint/2010/main" val="37296809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AXA leveraged RPA for its claims processing, resulting in faster claims resolution and significantly improved customer experiences.</a:t>
            </a:r>
          </a:p>
        </p:txBody>
      </p:sp>
      <p:sp>
        <p:nvSpPr>
          <p:cNvPr id="4" name="Slide Number Placeholder 3"/>
          <p:cNvSpPr>
            <a:spLocks noGrp="1"/>
          </p:cNvSpPr>
          <p:nvPr>
            <p:ph type="sldNum" sz="quarter" idx="5"/>
          </p:nvPr>
        </p:nvSpPr>
        <p:spPr/>
        <p:txBody>
          <a:bodyPr/>
          <a:lstStyle/>
          <a:p>
            <a:fld id="{93AF1C4A-08F6-409B-8121-D75A461C7925}" type="slidenum">
              <a:rPr lang="en-US" smtClean="0"/>
              <a:t>17</a:t>
            </a:fld>
            <a:endParaRPr lang="en-US"/>
          </a:p>
        </p:txBody>
      </p:sp>
    </p:spTree>
    <p:extLst>
      <p:ext uri="{BB962C8B-B14F-4D97-AF65-F5344CB8AC3E}">
        <p14:creationId xmlns:p14="http://schemas.microsoft.com/office/powerpoint/2010/main" val="21870729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Government agencies use RPA for data entry, processing applications, and managing records to improve service delivery and compliance.</a:t>
            </a:r>
          </a:p>
        </p:txBody>
      </p:sp>
      <p:sp>
        <p:nvSpPr>
          <p:cNvPr id="4" name="Slide Number Placeholder 3"/>
          <p:cNvSpPr>
            <a:spLocks noGrp="1"/>
          </p:cNvSpPr>
          <p:nvPr>
            <p:ph type="sldNum" sz="quarter" idx="5"/>
          </p:nvPr>
        </p:nvSpPr>
        <p:spPr/>
        <p:txBody>
          <a:bodyPr/>
          <a:lstStyle/>
          <a:p>
            <a:fld id="{93AF1C4A-08F6-409B-8121-D75A461C7925}" type="slidenum">
              <a:rPr lang="en-US" smtClean="0"/>
              <a:t>18</a:t>
            </a:fld>
            <a:endParaRPr lang="en-US"/>
          </a:p>
        </p:txBody>
      </p:sp>
    </p:spTree>
    <p:extLst>
      <p:ext uri="{BB962C8B-B14F-4D97-AF65-F5344CB8AC3E}">
        <p14:creationId xmlns:p14="http://schemas.microsoft.com/office/powerpoint/2010/main" val="3865688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UK Government adopted RPA to automate administrative tasks across various departments, leading to cost savings and improved service outcomes.</a:t>
            </a:r>
          </a:p>
        </p:txBody>
      </p:sp>
      <p:sp>
        <p:nvSpPr>
          <p:cNvPr id="4" name="Slide Number Placeholder 3"/>
          <p:cNvSpPr>
            <a:spLocks noGrp="1"/>
          </p:cNvSpPr>
          <p:nvPr>
            <p:ph type="sldNum" sz="quarter" idx="5"/>
          </p:nvPr>
        </p:nvSpPr>
        <p:spPr/>
        <p:txBody>
          <a:bodyPr/>
          <a:lstStyle/>
          <a:p>
            <a:fld id="{93AF1C4A-08F6-409B-8121-D75A461C7925}" type="slidenum">
              <a:rPr lang="en-US" smtClean="0"/>
              <a:t>19</a:t>
            </a:fld>
            <a:endParaRPr lang="en-US"/>
          </a:p>
        </p:txBody>
      </p:sp>
    </p:spTree>
    <p:extLst>
      <p:ext uri="{BB962C8B-B14F-4D97-AF65-F5344CB8AC3E}">
        <p14:creationId xmlns:p14="http://schemas.microsoft.com/office/powerpoint/2010/main" val="9717014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While RPA offers numerous benefits, organizations may face challenges such as resistance to change, integration with legacy systems, and ensuring data security.</a:t>
            </a:r>
          </a:p>
        </p:txBody>
      </p:sp>
      <p:sp>
        <p:nvSpPr>
          <p:cNvPr id="4" name="Slide Number Placeholder 3"/>
          <p:cNvSpPr>
            <a:spLocks noGrp="1"/>
          </p:cNvSpPr>
          <p:nvPr>
            <p:ph type="sldNum" sz="quarter" idx="5"/>
          </p:nvPr>
        </p:nvSpPr>
        <p:spPr/>
        <p:txBody>
          <a:bodyPr/>
          <a:lstStyle/>
          <a:p>
            <a:fld id="{93AF1C4A-08F6-409B-8121-D75A461C7925}" type="slidenum">
              <a:rPr lang="en-US" smtClean="0"/>
              <a:t>20</a:t>
            </a:fld>
            <a:endParaRPr lang="en-US"/>
          </a:p>
        </p:txBody>
      </p:sp>
    </p:spTree>
    <p:extLst>
      <p:ext uri="{BB962C8B-B14F-4D97-AF65-F5344CB8AC3E}">
        <p14:creationId xmlns:p14="http://schemas.microsoft.com/office/powerpoint/2010/main" val="16426563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achieve successful RPA implementation, organizations should prioritize process selection, invest in employee training, and focus on change management strategies.</a:t>
            </a:r>
          </a:p>
        </p:txBody>
      </p:sp>
      <p:sp>
        <p:nvSpPr>
          <p:cNvPr id="4" name="Slide Number Placeholder 3"/>
          <p:cNvSpPr>
            <a:spLocks noGrp="1"/>
          </p:cNvSpPr>
          <p:nvPr>
            <p:ph type="sldNum" sz="quarter" idx="5"/>
          </p:nvPr>
        </p:nvSpPr>
        <p:spPr/>
        <p:txBody>
          <a:bodyPr/>
          <a:lstStyle/>
          <a:p>
            <a:fld id="{93AF1C4A-08F6-409B-8121-D75A461C7925}" type="slidenum">
              <a:rPr lang="en-US" smtClean="0"/>
              <a:t>21</a:t>
            </a:fld>
            <a:endParaRPr lang="en-US"/>
          </a:p>
        </p:txBody>
      </p:sp>
    </p:spTree>
    <p:extLst>
      <p:ext uri="{BB962C8B-B14F-4D97-AF65-F5344CB8AC3E}">
        <p14:creationId xmlns:p14="http://schemas.microsoft.com/office/powerpoint/2010/main" val="28272164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technology advances, RPA will evolve, integrating with artificial intelligence and machine learning to enhance capabilities and broaden its application range.</a:t>
            </a:r>
          </a:p>
        </p:txBody>
      </p:sp>
      <p:sp>
        <p:nvSpPr>
          <p:cNvPr id="4" name="Slide Number Placeholder 3"/>
          <p:cNvSpPr>
            <a:spLocks noGrp="1"/>
          </p:cNvSpPr>
          <p:nvPr>
            <p:ph type="sldNum" sz="quarter" idx="5"/>
          </p:nvPr>
        </p:nvSpPr>
        <p:spPr/>
        <p:txBody>
          <a:bodyPr/>
          <a:lstStyle/>
          <a:p>
            <a:fld id="{93AF1C4A-08F6-409B-8121-D75A461C7925}" type="slidenum">
              <a:rPr lang="en-US" smtClean="0"/>
              <a:t>22</a:t>
            </a:fld>
            <a:endParaRPr lang="en-US"/>
          </a:p>
        </p:txBody>
      </p:sp>
    </p:spTree>
    <p:extLst>
      <p:ext uri="{BB962C8B-B14F-4D97-AF65-F5344CB8AC3E}">
        <p14:creationId xmlns:p14="http://schemas.microsoft.com/office/powerpoint/2010/main" val="38560617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Successful RPA implementations demonstrate significant improvements across various industries. By adopting best practices and addressing challenges, organizations can harness the full potential of RPA to drive efficiency and innovation.</a:t>
            </a:r>
          </a:p>
        </p:txBody>
      </p:sp>
      <p:sp>
        <p:nvSpPr>
          <p:cNvPr id="4" name="Slide Number Placeholder 3"/>
          <p:cNvSpPr>
            <a:spLocks noGrp="1"/>
          </p:cNvSpPr>
          <p:nvPr>
            <p:ph type="sldNum" sz="quarter" idx="5"/>
          </p:nvPr>
        </p:nvSpPr>
        <p:spPr/>
        <p:txBody>
          <a:bodyPr/>
          <a:lstStyle/>
          <a:p>
            <a:fld id="{93AF1C4A-08F6-409B-8121-D75A461C7925}" type="slidenum">
              <a:rPr lang="en-US" smtClean="0"/>
              <a:t>23</a:t>
            </a:fld>
            <a:endParaRPr lang="en-US"/>
          </a:p>
        </p:txBody>
      </p:sp>
    </p:spTree>
    <p:extLst>
      <p:ext uri="{BB962C8B-B14F-4D97-AF65-F5344CB8AC3E}">
        <p14:creationId xmlns:p14="http://schemas.microsoft.com/office/powerpoint/2010/main" val="2394677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1/27/2025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81933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1/27/2025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8341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1/27/2025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06220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1/27/2025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95795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1/27/2025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7664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1/27/2025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59348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1/27/2025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36110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1/27/2025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49458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1/27/2025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6529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1/27/2025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34608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1/27/2025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10524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1/27/2025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7679692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descr="Engineer programming robot in robotics research facility">
            <a:extLst>
              <a:ext uri="{FF2B5EF4-FFF2-40B4-BE49-F238E27FC236}">
                <a16:creationId xmlns:a16="http://schemas.microsoft.com/office/drawing/2014/main" id="{CCE6B348-07E7-4C3D-8F17-0CE64E5BB49D}"/>
              </a:ext>
            </a:extLst>
          </p:cNvPr>
          <p:cNvPicPr>
            <a:picLocks noChangeAspect="1"/>
          </p:cNvPicPr>
          <p:nvPr/>
        </p:nvPicPr>
        <p:blipFill>
          <a:blip r:embed="rId3"/>
          <a:srcRect t="17188" r="9091" b="6204"/>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76A10D8F-D463-70E5-239B-17AD65EF4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C31DA37-0F64-BD00-C7B7-39EB5E25A42D}"/>
              </a:ext>
            </a:extLst>
          </p:cNvPr>
          <p:cNvSpPr>
            <a:spLocks noGrp="1"/>
          </p:cNvSpPr>
          <p:nvPr>
            <p:ph type="ctrTitle"/>
          </p:nvPr>
        </p:nvSpPr>
        <p:spPr>
          <a:xfrm>
            <a:off x="286506" y="603315"/>
            <a:ext cx="5649211" cy="3685731"/>
          </a:xfrm>
        </p:spPr>
        <p:txBody>
          <a:bodyPr anchor="t">
            <a:normAutofit/>
          </a:bodyPr>
          <a:lstStyle/>
          <a:p>
            <a:pPr algn="l"/>
            <a:r>
              <a:rPr lang="en-US" sz="6600"/>
              <a:t>Successful Real-World Cases in RPA</a:t>
            </a:r>
          </a:p>
        </p:txBody>
      </p:sp>
      <p:sp>
        <p:nvSpPr>
          <p:cNvPr id="3" name="Subtitle 2">
            <a:extLst>
              <a:ext uri="{FF2B5EF4-FFF2-40B4-BE49-F238E27FC236}">
                <a16:creationId xmlns:a16="http://schemas.microsoft.com/office/drawing/2014/main" id="{EE474BA5-EEDC-8F5C-6F58-21AFE5DC750A}"/>
              </a:ext>
            </a:extLst>
          </p:cNvPr>
          <p:cNvSpPr>
            <a:spLocks noGrp="1"/>
          </p:cNvSpPr>
          <p:nvPr>
            <p:ph type="subTitle" idx="1"/>
          </p:nvPr>
        </p:nvSpPr>
        <p:spPr>
          <a:xfrm>
            <a:off x="286507" y="4437176"/>
            <a:ext cx="4007587" cy="1290807"/>
          </a:xfrm>
        </p:spPr>
        <p:txBody>
          <a:bodyPr anchor="ctr">
            <a:normAutofit/>
          </a:bodyPr>
          <a:lstStyle/>
          <a:p>
            <a:pPr algn="l"/>
            <a:r>
              <a:rPr lang="en-US" sz="2200"/>
              <a:t>Exploring RPA's impact across various industries</a:t>
            </a:r>
          </a:p>
        </p:txBody>
      </p:sp>
    </p:spTree>
    <p:extLst>
      <p:ext uri="{BB962C8B-B14F-4D97-AF65-F5344CB8AC3E}">
        <p14:creationId xmlns:p14="http://schemas.microsoft.com/office/powerpoint/2010/main" val="583074405"/>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Young Golden-doodle service dog for emotional support isolated against a white background.">
            <a:extLst>
              <a:ext uri="{FF2B5EF4-FFF2-40B4-BE49-F238E27FC236}">
                <a16:creationId xmlns:a16="http://schemas.microsoft.com/office/drawing/2014/main" id="{5054A4EE-9ADA-44C9-9024-8A89D1BF6E35}"/>
              </a:ext>
            </a:extLst>
          </p:cNvPr>
          <p:cNvPicPr>
            <a:picLocks noGrp="1" noChangeAspect="1"/>
          </p:cNvPicPr>
          <p:nvPr>
            <p:ph sz="half" idx="1"/>
          </p:nvPr>
        </p:nvPicPr>
        <p:blipFill>
          <a:blip r:embed="rId3"/>
          <a:srcRect l="27639" r="22242" b="1"/>
          <a:stretch/>
        </p:blipFill>
        <p:spPr>
          <a:xfrm>
            <a:off x="20" y="10"/>
            <a:ext cx="4910308" cy="6857990"/>
          </a:xfrm>
          <a:prstGeom prst="rect">
            <a:avLst/>
          </a:prstGeom>
        </p:spPr>
      </p:pic>
      <p:sp>
        <p:nvSpPr>
          <p:cNvPr id="2" name="Title 1">
            <a:extLst>
              <a:ext uri="{FF2B5EF4-FFF2-40B4-BE49-F238E27FC236}">
                <a16:creationId xmlns:a16="http://schemas.microsoft.com/office/drawing/2014/main" id="{AD17673F-A3F4-B2E8-02FF-919974E5CF5F}"/>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Presentation Agenda</a:t>
            </a:r>
          </a:p>
        </p:txBody>
      </p:sp>
      <p:sp>
        <p:nvSpPr>
          <p:cNvPr id="4" name="Content Placeholder 3">
            <a:extLst>
              <a:ext uri="{FF2B5EF4-FFF2-40B4-BE49-F238E27FC236}">
                <a16:creationId xmlns:a16="http://schemas.microsoft.com/office/drawing/2014/main" id="{A75A5E9C-4E53-9B1F-5921-D57B3C7E80F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Introduction to RPA</a:t>
            </a:r>
          </a:p>
          <a:p>
            <a:pPr marL="0" lvl="1" indent="0">
              <a:buNone/>
            </a:pPr>
            <a:r>
              <a:rPr lang="en-US" sz="1400"/>
              <a:t>We will start with an overview of Robotic Process Automation (RPA) and its significance in modern business.</a:t>
            </a:r>
          </a:p>
          <a:p>
            <a:pPr marL="0" indent="0">
              <a:spcBef>
                <a:spcPts val="2500"/>
              </a:spcBef>
              <a:buNone/>
            </a:pPr>
            <a:r>
              <a:rPr lang="en-US" sz="1400" b="1"/>
              <a:t>Applications in Industries</a:t>
            </a:r>
          </a:p>
          <a:p>
            <a:pPr marL="0" lvl="1" indent="0">
              <a:buNone/>
            </a:pPr>
            <a:r>
              <a:rPr lang="en-US" sz="1400"/>
              <a:t>Next, we will explore various applications of RPA across different industries, showcasing its versatility and benefits.</a:t>
            </a:r>
          </a:p>
          <a:p>
            <a:pPr marL="0" indent="0">
              <a:spcBef>
                <a:spcPts val="2500"/>
              </a:spcBef>
              <a:buNone/>
            </a:pPr>
            <a:r>
              <a:rPr lang="en-US" sz="1400" b="1"/>
              <a:t>Case Studies of Success</a:t>
            </a:r>
          </a:p>
          <a:p>
            <a:pPr marL="0" lvl="1" indent="0">
              <a:buNone/>
            </a:pPr>
            <a:r>
              <a:rPr lang="en-US" sz="1400"/>
              <a:t>Finally, we will discuss specific case studies of companies that have successfully implemented RPA, highlighting their achievements.</a:t>
            </a:r>
          </a:p>
        </p:txBody>
      </p:sp>
    </p:spTree>
    <p:extLst>
      <p:ext uri="{BB962C8B-B14F-4D97-AF65-F5344CB8AC3E}">
        <p14:creationId xmlns:p14="http://schemas.microsoft.com/office/powerpoint/2010/main" val="36379163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The robot manages interactive system. Robot technology will soon take the place of people.">
            <a:extLst>
              <a:ext uri="{FF2B5EF4-FFF2-40B4-BE49-F238E27FC236}">
                <a16:creationId xmlns:a16="http://schemas.microsoft.com/office/drawing/2014/main" id="{71770F4D-2D32-40A4-B239-402067BD6AA5}"/>
              </a:ext>
            </a:extLst>
          </p:cNvPr>
          <p:cNvPicPr>
            <a:picLocks noGrp="1" noChangeAspect="1"/>
          </p:cNvPicPr>
          <p:nvPr>
            <p:ph sz="half" idx="1"/>
          </p:nvPr>
        </p:nvPicPr>
        <p:blipFill>
          <a:blip r:embed="rId3"/>
          <a:srcRect l="32825" r="3575"/>
          <a:stretch/>
        </p:blipFill>
        <p:spPr>
          <a:xfrm>
            <a:off x="7345680" y="10"/>
            <a:ext cx="4846320" cy="6857990"/>
          </a:xfrm>
          <a:prstGeom prst="rect">
            <a:avLst/>
          </a:prstGeom>
        </p:spPr>
      </p:pic>
      <p:sp>
        <p:nvSpPr>
          <p:cNvPr id="2" name="Title 1">
            <a:extLst>
              <a:ext uri="{FF2B5EF4-FFF2-40B4-BE49-F238E27FC236}">
                <a16:creationId xmlns:a16="http://schemas.microsoft.com/office/drawing/2014/main" id="{3B1D97EE-DE96-200C-7015-0329425A4581}"/>
              </a:ext>
            </a:extLst>
          </p:cNvPr>
          <p:cNvSpPr>
            <a:spLocks noGrp="1"/>
          </p:cNvSpPr>
          <p:nvPr>
            <p:ph type="title"/>
          </p:nvPr>
        </p:nvSpPr>
        <p:spPr>
          <a:xfrm>
            <a:off x="612648" y="600075"/>
            <a:ext cx="6035040" cy="1529932"/>
          </a:xfrm>
        </p:spPr>
        <p:txBody>
          <a:bodyPr vert="horz" lIns="91440" tIns="45720" rIns="91440" bIns="45720" rtlCol="0" anchor="b">
            <a:normAutofit/>
          </a:bodyPr>
          <a:lstStyle/>
          <a:p>
            <a:r>
              <a:rPr lang="en-US" b="1" kern="1200">
                <a:solidFill>
                  <a:schemeClr val="tx1"/>
                </a:solidFill>
                <a:latin typeface="+mj-lt"/>
                <a:ea typeface="+mj-ea"/>
                <a:cs typeface="+mj-cs"/>
              </a:rPr>
              <a:t>Introduction to RPA</a:t>
            </a:r>
          </a:p>
        </p:txBody>
      </p:sp>
      <p:sp>
        <p:nvSpPr>
          <p:cNvPr id="4" name="Content Placeholder 3">
            <a:extLst>
              <a:ext uri="{FF2B5EF4-FFF2-40B4-BE49-F238E27FC236}">
                <a16:creationId xmlns:a16="http://schemas.microsoft.com/office/drawing/2014/main" id="{C88E2BBB-2BF1-CF59-DE6F-D3432D526E8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2212848"/>
            <a:ext cx="6035040" cy="4096512"/>
          </a:xfrm>
        </p:spPr>
        <p:txBody>
          <a:bodyPr>
            <a:normAutofit/>
          </a:bodyPr>
          <a:lstStyle/>
          <a:p>
            <a:pPr marL="0" indent="0">
              <a:spcBef>
                <a:spcPts val="2500"/>
              </a:spcBef>
              <a:buNone/>
            </a:pPr>
            <a:r>
              <a:rPr lang="en-US" sz="1400" b="1"/>
              <a:t>What is RPA?</a:t>
            </a:r>
          </a:p>
          <a:p>
            <a:pPr marL="0" lvl="1" indent="0">
              <a:buNone/>
            </a:pPr>
            <a:r>
              <a:rPr lang="en-US" sz="1400"/>
              <a:t>RPA, or Robotic Process Automation, involves using software robots to automate repetitive tasks across various applications.</a:t>
            </a:r>
          </a:p>
          <a:p>
            <a:pPr marL="0" indent="0">
              <a:spcBef>
                <a:spcPts val="2500"/>
              </a:spcBef>
              <a:buNone/>
            </a:pPr>
            <a:r>
              <a:rPr lang="en-US" sz="1400" b="1"/>
              <a:t>Benefits of RPA</a:t>
            </a:r>
          </a:p>
          <a:p>
            <a:pPr marL="0" lvl="1" indent="0">
              <a:buNone/>
            </a:pPr>
            <a:r>
              <a:rPr lang="en-US" sz="1400"/>
              <a:t>Implementing RPA helps businesses streamline their processes, reduce errors, and enhance overall efficiency.</a:t>
            </a:r>
          </a:p>
          <a:p>
            <a:pPr marL="0" indent="0">
              <a:spcBef>
                <a:spcPts val="2500"/>
              </a:spcBef>
              <a:buNone/>
            </a:pPr>
            <a:r>
              <a:rPr lang="en-US" sz="1400" b="1"/>
              <a:t>Human Resource Optimization</a:t>
            </a:r>
          </a:p>
          <a:p>
            <a:pPr marL="0" lvl="1" indent="0">
              <a:buNone/>
            </a:pPr>
            <a:r>
              <a:rPr lang="en-US" sz="1400"/>
              <a:t>By automating routine tasks, RPA frees up human resources to focus on more strategic and value-added activities.</a:t>
            </a:r>
          </a:p>
        </p:txBody>
      </p:sp>
    </p:spTree>
    <p:extLst>
      <p:ext uri="{BB962C8B-B14F-4D97-AF65-F5344CB8AC3E}">
        <p14:creationId xmlns:p14="http://schemas.microsoft.com/office/powerpoint/2010/main" val="41442099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Content Placeholder 4" descr="fourth industrial revolution technology concept">
            <a:extLst>
              <a:ext uri="{FF2B5EF4-FFF2-40B4-BE49-F238E27FC236}">
                <a16:creationId xmlns:a16="http://schemas.microsoft.com/office/drawing/2014/main" id="{7BA1AE25-5E01-4EC8-8D9D-9875D278B9D5}"/>
              </a:ext>
            </a:extLst>
          </p:cNvPr>
          <p:cNvPicPr>
            <a:picLocks noGrp="1" noChangeAspect="1"/>
          </p:cNvPicPr>
          <p:nvPr>
            <p:ph sz="half" idx="1"/>
          </p:nvPr>
        </p:nvPicPr>
        <p:blipFill>
          <a:blip r:embed="rId3"/>
          <a:srcRect l="19625" r="19065" b="1"/>
          <a:stretch/>
        </p:blipFill>
        <p:spPr>
          <a:xfrm>
            <a:off x="731521" y="2011679"/>
            <a:ext cx="4684352" cy="4297680"/>
          </a:xfrm>
          <a:prstGeom prst="rect">
            <a:avLst/>
          </a:prstGeom>
        </p:spPr>
      </p:pic>
      <p:sp>
        <p:nvSpPr>
          <p:cNvPr id="2" name="Title 1">
            <a:extLst>
              <a:ext uri="{FF2B5EF4-FFF2-40B4-BE49-F238E27FC236}">
                <a16:creationId xmlns:a16="http://schemas.microsoft.com/office/drawing/2014/main" id="{2E1ACB43-2428-8469-E06D-ED4AECB3FFEA}"/>
              </a:ext>
            </a:extLst>
          </p:cNvPr>
          <p:cNvSpPr>
            <a:spLocks noGrp="1"/>
          </p:cNvSpPr>
          <p:nvPr>
            <p:ph type="title"/>
          </p:nvPr>
        </p:nvSpPr>
        <p:spPr>
          <a:xfrm>
            <a:off x="614679" y="548641"/>
            <a:ext cx="4779572" cy="1298448"/>
          </a:xfrm>
        </p:spPr>
        <p:txBody>
          <a:bodyPr vert="horz" lIns="91440" tIns="45720" rIns="91440" bIns="45720" rtlCol="0" anchor="t">
            <a:normAutofit/>
          </a:bodyPr>
          <a:lstStyle/>
          <a:p>
            <a:r>
              <a:rPr lang="en-US" b="1" kern="1200">
                <a:solidFill>
                  <a:schemeClr val="tx1"/>
                </a:solidFill>
                <a:latin typeface="+mj-lt"/>
                <a:ea typeface="+mj-ea"/>
                <a:cs typeface="+mj-cs"/>
              </a:rPr>
              <a:t>Benefits of RPA</a:t>
            </a:r>
          </a:p>
        </p:txBody>
      </p:sp>
      <p:sp>
        <p:nvSpPr>
          <p:cNvPr id="4" name="Content Placeholder 3">
            <a:extLst>
              <a:ext uri="{FF2B5EF4-FFF2-40B4-BE49-F238E27FC236}">
                <a16:creationId xmlns:a16="http://schemas.microsoft.com/office/drawing/2014/main" id="{C4CF9BA3-EE23-CBA7-D733-A286D8BC605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0551" y="548638"/>
            <a:ext cx="5546770" cy="5760721"/>
          </a:xfrm>
        </p:spPr>
        <p:txBody>
          <a:bodyPr>
            <a:normAutofit/>
          </a:bodyPr>
          <a:lstStyle/>
          <a:p>
            <a:pPr marL="0" indent="0">
              <a:spcBef>
                <a:spcPts val="2500"/>
              </a:spcBef>
              <a:buNone/>
            </a:pPr>
            <a:r>
              <a:rPr lang="en-US" sz="1400" b="1"/>
              <a:t>Increased Efficiency</a:t>
            </a:r>
          </a:p>
          <a:p>
            <a:pPr marL="0" lvl="1" indent="0">
              <a:buNone/>
            </a:pPr>
            <a:r>
              <a:rPr lang="en-US" sz="1400"/>
              <a:t>RPA significantly enhances operational efficiency by automating repetitive tasks, allowing employees to focus on higher-value activities.</a:t>
            </a:r>
          </a:p>
          <a:p>
            <a:pPr marL="0" indent="0">
              <a:spcBef>
                <a:spcPts val="2500"/>
              </a:spcBef>
              <a:buNone/>
            </a:pPr>
            <a:r>
              <a:rPr lang="en-US" sz="1400" b="1"/>
              <a:t>Reduced Operational Costs</a:t>
            </a:r>
          </a:p>
          <a:p>
            <a:pPr marL="0" lvl="1" indent="0">
              <a:buNone/>
            </a:pPr>
            <a:r>
              <a:rPr lang="en-US" sz="1400"/>
              <a:t>By automating processes, organizations can reduce operational costs, minimizing the need for manual labor and decreasing errors.</a:t>
            </a:r>
          </a:p>
          <a:p>
            <a:pPr marL="0" indent="0">
              <a:spcBef>
                <a:spcPts val="2500"/>
              </a:spcBef>
              <a:buNone/>
            </a:pPr>
            <a:r>
              <a:rPr lang="en-US" sz="1400" b="1"/>
              <a:t>Enhanced Accuracy</a:t>
            </a:r>
          </a:p>
          <a:p>
            <a:pPr marL="0" lvl="1" indent="0">
              <a:buNone/>
            </a:pPr>
            <a:r>
              <a:rPr lang="en-US" sz="1400"/>
              <a:t>RPA improves accuracy by eliminating human errors in data entry and processing, resulting in higher quality outputs.</a:t>
            </a:r>
          </a:p>
          <a:p>
            <a:pPr marL="0" indent="0">
              <a:spcBef>
                <a:spcPts val="2500"/>
              </a:spcBef>
              <a:buNone/>
            </a:pPr>
            <a:r>
              <a:rPr lang="en-US" sz="1400" b="1"/>
              <a:t>Improved Compliance</a:t>
            </a:r>
          </a:p>
          <a:p>
            <a:pPr marL="0" lvl="1" indent="0">
              <a:buNone/>
            </a:pPr>
            <a:r>
              <a:rPr lang="en-US" sz="1400"/>
              <a:t>RPA helps organizations maintain compliance with regulations and standards by ensuring consistent and reliable execution of processes.</a:t>
            </a:r>
          </a:p>
        </p:txBody>
      </p:sp>
    </p:spTree>
    <p:extLst>
      <p:ext uri="{BB962C8B-B14F-4D97-AF65-F5344CB8AC3E}">
        <p14:creationId xmlns:p14="http://schemas.microsoft.com/office/powerpoint/2010/main" val="32026626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Content Placeholder 4" descr="Multiple exposure businessman architect engineer holding a safety helmet">
            <a:extLst>
              <a:ext uri="{FF2B5EF4-FFF2-40B4-BE49-F238E27FC236}">
                <a16:creationId xmlns:a16="http://schemas.microsoft.com/office/drawing/2014/main" id="{AD6990D8-8FAF-4DD8-9760-DF615A7992A4}"/>
              </a:ext>
            </a:extLst>
          </p:cNvPr>
          <p:cNvPicPr>
            <a:picLocks noGrp="1" noChangeAspect="1"/>
          </p:cNvPicPr>
          <p:nvPr>
            <p:ph sz="half" idx="1"/>
          </p:nvPr>
        </p:nvPicPr>
        <p:blipFill>
          <a:blip r:embed="rId3"/>
          <a:srcRect l="12402" r="14841" b="-1"/>
          <a:stretch/>
        </p:blipFill>
        <p:spPr>
          <a:xfrm>
            <a:off x="731521" y="2011679"/>
            <a:ext cx="4684352" cy="4297680"/>
          </a:xfrm>
          <a:prstGeom prst="rect">
            <a:avLst/>
          </a:prstGeom>
        </p:spPr>
      </p:pic>
      <p:sp>
        <p:nvSpPr>
          <p:cNvPr id="2" name="Title 1">
            <a:extLst>
              <a:ext uri="{FF2B5EF4-FFF2-40B4-BE49-F238E27FC236}">
                <a16:creationId xmlns:a16="http://schemas.microsoft.com/office/drawing/2014/main" id="{CF4CB0C4-7FDC-E1A6-D488-D03C18AB1922}"/>
              </a:ext>
            </a:extLst>
          </p:cNvPr>
          <p:cNvSpPr>
            <a:spLocks noGrp="1"/>
          </p:cNvSpPr>
          <p:nvPr>
            <p:ph type="title"/>
          </p:nvPr>
        </p:nvSpPr>
        <p:spPr>
          <a:xfrm>
            <a:off x="614679" y="548641"/>
            <a:ext cx="4779572" cy="1298448"/>
          </a:xfrm>
        </p:spPr>
        <p:txBody>
          <a:bodyPr vert="horz" lIns="91440" tIns="45720" rIns="91440" bIns="45720" rtlCol="0" anchor="t">
            <a:normAutofit/>
          </a:bodyPr>
          <a:lstStyle/>
          <a:p>
            <a:r>
              <a:rPr lang="en-US" b="1" kern="1200">
                <a:solidFill>
                  <a:schemeClr val="tx1"/>
                </a:solidFill>
                <a:latin typeface="+mj-lt"/>
                <a:ea typeface="+mj-ea"/>
                <a:cs typeface="+mj-cs"/>
              </a:rPr>
              <a:t>Industry Applications of RPA</a:t>
            </a:r>
          </a:p>
        </p:txBody>
      </p:sp>
      <p:sp>
        <p:nvSpPr>
          <p:cNvPr id="4" name="Content Placeholder 3">
            <a:extLst>
              <a:ext uri="{FF2B5EF4-FFF2-40B4-BE49-F238E27FC236}">
                <a16:creationId xmlns:a16="http://schemas.microsoft.com/office/drawing/2014/main" id="{03946355-E388-0D3B-B260-B00B535ED72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0551" y="548638"/>
            <a:ext cx="5546770" cy="5760721"/>
          </a:xfrm>
        </p:spPr>
        <p:txBody>
          <a:bodyPr>
            <a:normAutofit/>
          </a:bodyPr>
          <a:lstStyle/>
          <a:p>
            <a:pPr marL="0" indent="0">
              <a:spcBef>
                <a:spcPts val="2500"/>
              </a:spcBef>
              <a:buNone/>
            </a:pPr>
            <a:r>
              <a:rPr lang="en-US" sz="1400" b="1"/>
              <a:t>Finance Sector</a:t>
            </a:r>
          </a:p>
          <a:p>
            <a:pPr marL="0" lvl="1" indent="0">
              <a:buNone/>
            </a:pPr>
            <a:r>
              <a:rPr lang="en-US" sz="1400"/>
              <a:t>In finance, RPA helps automate repetitive tasks like data entry, invoice processing, and compliance reporting, enhancing efficiency.</a:t>
            </a:r>
          </a:p>
          <a:p>
            <a:pPr marL="0" indent="0">
              <a:spcBef>
                <a:spcPts val="2500"/>
              </a:spcBef>
              <a:buNone/>
            </a:pPr>
            <a:r>
              <a:rPr lang="en-US" sz="1400" b="1"/>
              <a:t>Healthcare Applications</a:t>
            </a:r>
          </a:p>
          <a:p>
            <a:pPr marL="0" lvl="1" indent="0">
              <a:buNone/>
            </a:pPr>
            <a:r>
              <a:rPr lang="en-US" sz="1400"/>
              <a:t>RPA in healthcare streamlines patient data management, billing, and appointment scheduling, improving service delivery and accuracy.</a:t>
            </a:r>
          </a:p>
          <a:p>
            <a:pPr marL="0" indent="0">
              <a:spcBef>
                <a:spcPts val="2500"/>
              </a:spcBef>
              <a:buNone/>
            </a:pPr>
            <a:r>
              <a:rPr lang="en-US" sz="1400" b="1"/>
              <a:t>Retail Efficiency</a:t>
            </a:r>
          </a:p>
          <a:p>
            <a:pPr marL="0" lvl="1" indent="0">
              <a:buNone/>
            </a:pPr>
            <a:r>
              <a:rPr lang="en-US" sz="1400"/>
              <a:t>Retail businesses use RPA to manage inventory, process orders, and enhance customer service, leading to better customer experiences.</a:t>
            </a:r>
          </a:p>
          <a:p>
            <a:pPr marL="0" indent="0">
              <a:spcBef>
                <a:spcPts val="2500"/>
              </a:spcBef>
              <a:buNone/>
            </a:pPr>
            <a:r>
              <a:rPr lang="en-US" sz="1400" b="1"/>
              <a:t>Manufacturing Processes</a:t>
            </a:r>
          </a:p>
          <a:p>
            <a:pPr marL="0" lvl="1" indent="0">
              <a:buNone/>
            </a:pPr>
            <a:r>
              <a:rPr lang="en-US" sz="1400"/>
              <a:t>In manufacturing, RPA streamlines supply chain management, production scheduling, and quality control processes, boosting productivity.</a:t>
            </a:r>
          </a:p>
        </p:txBody>
      </p:sp>
    </p:spTree>
    <p:extLst>
      <p:ext uri="{BB962C8B-B14F-4D97-AF65-F5344CB8AC3E}">
        <p14:creationId xmlns:p14="http://schemas.microsoft.com/office/powerpoint/2010/main" val="41156806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Biomedical engineering robot in a lab">
            <a:extLst>
              <a:ext uri="{FF2B5EF4-FFF2-40B4-BE49-F238E27FC236}">
                <a16:creationId xmlns:a16="http://schemas.microsoft.com/office/drawing/2014/main" id="{4E8E5972-D83C-45D6-861E-684B56DA1F77}"/>
              </a:ext>
            </a:extLst>
          </p:cNvPr>
          <p:cNvPicPr>
            <a:picLocks noGrp="1" noChangeAspect="1"/>
          </p:cNvPicPr>
          <p:nvPr>
            <p:ph sz="half" idx="1"/>
          </p:nvPr>
        </p:nvPicPr>
        <p:blipFill>
          <a:blip r:embed="rId3"/>
          <a:srcRect l="16324" r="36505" b="-1"/>
          <a:stretch/>
        </p:blipFill>
        <p:spPr>
          <a:xfrm>
            <a:off x="7345680" y="10"/>
            <a:ext cx="4846320" cy="6857990"/>
          </a:xfrm>
          <a:prstGeom prst="rect">
            <a:avLst/>
          </a:prstGeom>
        </p:spPr>
      </p:pic>
      <p:sp>
        <p:nvSpPr>
          <p:cNvPr id="2" name="Title 1">
            <a:extLst>
              <a:ext uri="{FF2B5EF4-FFF2-40B4-BE49-F238E27FC236}">
                <a16:creationId xmlns:a16="http://schemas.microsoft.com/office/drawing/2014/main" id="{2B68B2A7-DE0F-B4CF-B0FE-8C8613E5ACD8}"/>
              </a:ext>
            </a:extLst>
          </p:cNvPr>
          <p:cNvSpPr>
            <a:spLocks noGrp="1"/>
          </p:cNvSpPr>
          <p:nvPr>
            <p:ph type="title"/>
          </p:nvPr>
        </p:nvSpPr>
        <p:spPr>
          <a:xfrm>
            <a:off x="612648" y="600075"/>
            <a:ext cx="6035040" cy="1529932"/>
          </a:xfrm>
        </p:spPr>
        <p:txBody>
          <a:bodyPr vert="horz" lIns="91440" tIns="45720" rIns="91440" bIns="45720" rtlCol="0" anchor="b">
            <a:normAutofit/>
          </a:bodyPr>
          <a:lstStyle/>
          <a:p>
            <a:r>
              <a:rPr lang="en-US" b="1" kern="1200">
                <a:solidFill>
                  <a:schemeClr val="tx1"/>
                </a:solidFill>
                <a:latin typeface="+mj-lt"/>
                <a:ea typeface="+mj-ea"/>
                <a:cs typeface="+mj-cs"/>
              </a:rPr>
              <a:t>Finance Industry Example</a:t>
            </a:r>
          </a:p>
        </p:txBody>
      </p:sp>
      <p:sp>
        <p:nvSpPr>
          <p:cNvPr id="4" name="Content Placeholder 3">
            <a:extLst>
              <a:ext uri="{FF2B5EF4-FFF2-40B4-BE49-F238E27FC236}">
                <a16:creationId xmlns:a16="http://schemas.microsoft.com/office/drawing/2014/main" id="{7A337E88-5EB4-AF41-8348-054DCC60DBA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2212848"/>
            <a:ext cx="6035040" cy="4096512"/>
          </a:xfrm>
        </p:spPr>
        <p:txBody>
          <a:bodyPr>
            <a:normAutofit/>
          </a:bodyPr>
          <a:lstStyle/>
          <a:p>
            <a:pPr marL="0" indent="0">
              <a:spcBef>
                <a:spcPts val="2500"/>
              </a:spcBef>
              <a:buNone/>
            </a:pPr>
            <a:r>
              <a:rPr lang="en-US" sz="1400" b="1"/>
              <a:t>Automation of Tasks</a:t>
            </a:r>
          </a:p>
          <a:p>
            <a:pPr marL="0" lvl="1" indent="0">
              <a:buNone/>
            </a:pPr>
            <a:r>
              <a:rPr lang="en-US" sz="1400"/>
              <a:t>RPA helps automate repetitive financial tasks, improving efficiency and reducing human error in processes like transaction processing.</a:t>
            </a:r>
          </a:p>
          <a:p>
            <a:pPr marL="0" indent="0">
              <a:spcBef>
                <a:spcPts val="2500"/>
              </a:spcBef>
              <a:buNone/>
            </a:pPr>
            <a:r>
              <a:rPr lang="en-US" sz="1400" b="1"/>
              <a:t>Compliance Checks</a:t>
            </a:r>
          </a:p>
          <a:p>
            <a:pPr marL="0" lvl="1" indent="0">
              <a:buNone/>
            </a:pPr>
            <a:r>
              <a:rPr lang="en-US" sz="1400"/>
              <a:t>RPA is utilized in compliance checks to ensure adherence to regulations, enhancing accuracy and speed in the finance sector.</a:t>
            </a:r>
          </a:p>
          <a:p>
            <a:pPr marL="0" indent="0">
              <a:spcBef>
                <a:spcPts val="2500"/>
              </a:spcBef>
              <a:buNone/>
            </a:pPr>
            <a:r>
              <a:rPr lang="en-US" sz="1400" b="1"/>
              <a:t>Report Generation</a:t>
            </a:r>
          </a:p>
          <a:p>
            <a:pPr marL="0" lvl="1" indent="0">
              <a:buNone/>
            </a:pPr>
            <a:r>
              <a:rPr lang="en-US" sz="1400"/>
              <a:t>Automating report generation with RPA saves time for finance professionals, allowing them to focus on strategic tasks.</a:t>
            </a:r>
          </a:p>
        </p:txBody>
      </p:sp>
    </p:spTree>
    <p:extLst>
      <p:ext uri="{BB962C8B-B14F-4D97-AF65-F5344CB8AC3E}">
        <p14:creationId xmlns:p14="http://schemas.microsoft.com/office/powerpoint/2010/main" val="26188522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Content Placeholder 4" descr="Stock market e-banking fintech finance technology">
            <a:extLst>
              <a:ext uri="{FF2B5EF4-FFF2-40B4-BE49-F238E27FC236}">
                <a16:creationId xmlns:a16="http://schemas.microsoft.com/office/drawing/2014/main" id="{D7A02DB8-CE16-4A52-B9FB-8413682FB759}"/>
              </a:ext>
            </a:extLst>
          </p:cNvPr>
          <p:cNvPicPr>
            <a:picLocks noGrp="1" noChangeAspect="1"/>
          </p:cNvPicPr>
          <p:nvPr>
            <p:ph sz="half" idx="1"/>
          </p:nvPr>
        </p:nvPicPr>
        <p:blipFill>
          <a:blip r:embed="rId3"/>
          <a:srcRect l="14522" r="3733" b="3"/>
          <a:stretch/>
        </p:blipFill>
        <p:spPr>
          <a:xfrm>
            <a:off x="731521" y="2011679"/>
            <a:ext cx="4684352" cy="4297680"/>
          </a:xfrm>
          <a:prstGeom prst="rect">
            <a:avLst/>
          </a:prstGeom>
        </p:spPr>
      </p:pic>
      <p:sp>
        <p:nvSpPr>
          <p:cNvPr id="2" name="Title 1">
            <a:extLst>
              <a:ext uri="{FF2B5EF4-FFF2-40B4-BE49-F238E27FC236}">
                <a16:creationId xmlns:a16="http://schemas.microsoft.com/office/drawing/2014/main" id="{CCBE5C78-8E3F-CDA7-D1C6-72B509B5F7DC}"/>
              </a:ext>
            </a:extLst>
          </p:cNvPr>
          <p:cNvSpPr>
            <a:spLocks noGrp="1"/>
          </p:cNvSpPr>
          <p:nvPr>
            <p:ph type="title"/>
          </p:nvPr>
        </p:nvSpPr>
        <p:spPr>
          <a:xfrm>
            <a:off x="614679" y="548641"/>
            <a:ext cx="4779572" cy="1298448"/>
          </a:xfrm>
        </p:spPr>
        <p:txBody>
          <a:bodyPr vert="horz" lIns="91440" tIns="45720" rIns="91440" bIns="45720" rtlCol="0" anchor="t">
            <a:normAutofit/>
          </a:bodyPr>
          <a:lstStyle/>
          <a:p>
            <a:r>
              <a:rPr lang="en-US" b="1" kern="1200">
                <a:solidFill>
                  <a:schemeClr val="tx1"/>
                </a:solidFill>
                <a:latin typeface="+mj-lt"/>
                <a:ea typeface="+mj-ea"/>
                <a:cs typeface="+mj-cs"/>
              </a:rPr>
              <a:t>Case Study: UiPath with Deloitte</a:t>
            </a:r>
          </a:p>
        </p:txBody>
      </p:sp>
      <p:sp>
        <p:nvSpPr>
          <p:cNvPr id="4" name="Content Placeholder 3">
            <a:extLst>
              <a:ext uri="{FF2B5EF4-FFF2-40B4-BE49-F238E27FC236}">
                <a16:creationId xmlns:a16="http://schemas.microsoft.com/office/drawing/2014/main" id="{1188CB6D-C6AD-233A-B325-DA3555496F06}"/>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0551" y="548638"/>
            <a:ext cx="5546770" cy="5760721"/>
          </a:xfrm>
        </p:spPr>
        <p:txBody>
          <a:bodyPr>
            <a:normAutofit/>
          </a:bodyPr>
          <a:lstStyle/>
          <a:p>
            <a:pPr marL="0" indent="0">
              <a:spcBef>
                <a:spcPts val="2500"/>
              </a:spcBef>
              <a:buNone/>
            </a:pPr>
            <a:r>
              <a:rPr lang="en-US" sz="1400" b="1"/>
              <a:t>RPA Implementation</a:t>
            </a:r>
          </a:p>
          <a:p>
            <a:pPr marL="0" lvl="1" indent="0">
              <a:buNone/>
            </a:pPr>
            <a:r>
              <a:rPr lang="en-US" sz="1400"/>
              <a:t>Deloitte successfully implemented Robotic Process Automation (RPA) to streamline its financial services operations.</a:t>
            </a:r>
          </a:p>
          <a:p>
            <a:pPr marL="0" indent="0">
              <a:spcBef>
                <a:spcPts val="2500"/>
              </a:spcBef>
              <a:buNone/>
            </a:pPr>
            <a:r>
              <a:rPr lang="en-US" sz="1400" b="1"/>
              <a:t>Process Automation</a:t>
            </a:r>
          </a:p>
          <a:p>
            <a:pPr marL="0" lvl="1" indent="0">
              <a:buNone/>
            </a:pPr>
            <a:r>
              <a:rPr lang="en-US" sz="1400"/>
              <a:t>The automation of over 40 processes significantly enhanced operational efficiency and reduced errors.</a:t>
            </a:r>
          </a:p>
          <a:p>
            <a:pPr marL="0" indent="0">
              <a:spcBef>
                <a:spcPts val="2500"/>
              </a:spcBef>
              <a:buNone/>
            </a:pPr>
            <a:r>
              <a:rPr lang="en-US" sz="1400" b="1"/>
              <a:t>Time Reduction</a:t>
            </a:r>
          </a:p>
          <a:p>
            <a:pPr marL="0" lvl="1" indent="0">
              <a:buNone/>
            </a:pPr>
            <a:r>
              <a:rPr lang="en-US" sz="1400"/>
              <a:t>Deloitte achieved a remarkable 75% reduction in processing time across automated tasks, leading to faster service delivery.</a:t>
            </a:r>
          </a:p>
          <a:p>
            <a:pPr marL="0" indent="0">
              <a:spcBef>
                <a:spcPts val="2500"/>
              </a:spcBef>
              <a:buNone/>
            </a:pPr>
            <a:r>
              <a:rPr lang="en-US" sz="1400" b="1"/>
              <a:t>Improved Accuracy</a:t>
            </a:r>
          </a:p>
          <a:p>
            <a:pPr marL="0" lvl="1" indent="0">
              <a:buNone/>
            </a:pPr>
            <a:r>
              <a:rPr lang="en-US" sz="1400"/>
              <a:t>The implementation of RPA not only sped up processes but also improved accuracy in financial operations.</a:t>
            </a:r>
          </a:p>
        </p:txBody>
      </p:sp>
    </p:spTree>
    <p:extLst>
      <p:ext uri="{BB962C8B-B14F-4D97-AF65-F5344CB8AC3E}">
        <p14:creationId xmlns:p14="http://schemas.microsoft.com/office/powerpoint/2010/main" val="25422310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ssistant robot in a hospital room.">
            <a:extLst>
              <a:ext uri="{FF2B5EF4-FFF2-40B4-BE49-F238E27FC236}">
                <a16:creationId xmlns:a16="http://schemas.microsoft.com/office/drawing/2014/main" id="{75A968FA-B926-4C8E-AFAB-BBC40B84B441}"/>
              </a:ext>
            </a:extLst>
          </p:cNvPr>
          <p:cNvPicPr>
            <a:picLocks noGrp="1" noChangeAspect="1"/>
          </p:cNvPicPr>
          <p:nvPr>
            <p:ph sz="half" idx="1"/>
          </p:nvPr>
        </p:nvPicPr>
        <p:blipFill>
          <a:blip r:embed="rId3"/>
          <a:srcRect l="24657" r="27549" b="-1"/>
          <a:stretch/>
        </p:blipFill>
        <p:spPr>
          <a:xfrm>
            <a:off x="20" y="10"/>
            <a:ext cx="4910308" cy="6857990"/>
          </a:xfrm>
          <a:prstGeom prst="rect">
            <a:avLst/>
          </a:prstGeom>
        </p:spPr>
      </p:pic>
      <p:sp>
        <p:nvSpPr>
          <p:cNvPr id="2" name="Title 1">
            <a:extLst>
              <a:ext uri="{FF2B5EF4-FFF2-40B4-BE49-F238E27FC236}">
                <a16:creationId xmlns:a16="http://schemas.microsoft.com/office/drawing/2014/main" id="{0513F05E-D6D9-C8D3-116D-A504D25C95A8}"/>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Healthcare Industry Example</a:t>
            </a:r>
          </a:p>
        </p:txBody>
      </p:sp>
      <p:sp>
        <p:nvSpPr>
          <p:cNvPr id="4" name="Content Placeholder 3">
            <a:extLst>
              <a:ext uri="{FF2B5EF4-FFF2-40B4-BE49-F238E27FC236}">
                <a16:creationId xmlns:a16="http://schemas.microsoft.com/office/drawing/2014/main" id="{F1F7D1D9-A7E5-E9C2-B027-02F0E94AC2D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Patient Registration</a:t>
            </a:r>
          </a:p>
          <a:p>
            <a:pPr marL="0" lvl="1" indent="0">
              <a:buNone/>
            </a:pPr>
            <a:r>
              <a:rPr lang="en-US" sz="1400"/>
              <a:t>RPA simplifies the patient registration process, making it faster and more efficient for healthcare providers and patients.</a:t>
            </a:r>
          </a:p>
          <a:p>
            <a:pPr marL="0" indent="0">
              <a:spcBef>
                <a:spcPts val="2500"/>
              </a:spcBef>
              <a:buNone/>
            </a:pPr>
            <a:r>
              <a:rPr lang="en-US" sz="1400" b="1"/>
              <a:t>Appointment Scheduling</a:t>
            </a:r>
          </a:p>
          <a:p>
            <a:pPr marL="0" lvl="1" indent="0">
              <a:buNone/>
            </a:pPr>
            <a:r>
              <a:rPr lang="en-US" sz="1400"/>
              <a:t>Robotic Process Automation (RPA) enhances appointment scheduling by streamlining the booking process for both patients and staff.</a:t>
            </a:r>
          </a:p>
          <a:p>
            <a:pPr marL="0" indent="0">
              <a:spcBef>
                <a:spcPts val="2500"/>
              </a:spcBef>
              <a:buNone/>
            </a:pPr>
            <a:r>
              <a:rPr lang="en-US" sz="1400" b="1"/>
              <a:t>Billing Processes</a:t>
            </a:r>
          </a:p>
          <a:p>
            <a:pPr marL="0" lvl="1" indent="0">
              <a:buNone/>
            </a:pPr>
            <a:r>
              <a:rPr lang="en-US" sz="1400"/>
              <a:t>RPA helps manage billing processes, reducing errors and administrative overhead, enhancing efficiency in healthcare finance.</a:t>
            </a:r>
          </a:p>
        </p:txBody>
      </p:sp>
    </p:spTree>
    <p:extLst>
      <p:ext uri="{BB962C8B-B14F-4D97-AF65-F5344CB8AC3E}">
        <p14:creationId xmlns:p14="http://schemas.microsoft.com/office/powerpoint/2010/main" val="34311095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3D illustration.">
            <a:extLst>
              <a:ext uri="{FF2B5EF4-FFF2-40B4-BE49-F238E27FC236}">
                <a16:creationId xmlns:a16="http://schemas.microsoft.com/office/drawing/2014/main" id="{B2F10B29-45FD-4136-800C-BC1B24C67638}"/>
              </a:ext>
            </a:extLst>
          </p:cNvPr>
          <p:cNvPicPr>
            <a:picLocks noGrp="1" noChangeAspect="1"/>
          </p:cNvPicPr>
          <p:nvPr>
            <p:ph sz="half" idx="1"/>
          </p:nvPr>
        </p:nvPicPr>
        <p:blipFill>
          <a:blip r:embed="rId3"/>
          <a:srcRect l="7299" r="39002"/>
          <a:stretch/>
        </p:blipFill>
        <p:spPr>
          <a:xfrm>
            <a:off x="20" y="10"/>
            <a:ext cx="4910308" cy="6857990"/>
          </a:xfrm>
          <a:prstGeom prst="rect">
            <a:avLst/>
          </a:prstGeom>
        </p:spPr>
      </p:pic>
      <p:sp>
        <p:nvSpPr>
          <p:cNvPr id="2" name="Title 1">
            <a:extLst>
              <a:ext uri="{FF2B5EF4-FFF2-40B4-BE49-F238E27FC236}">
                <a16:creationId xmlns:a16="http://schemas.microsoft.com/office/drawing/2014/main" id="{C779E157-0755-C5BF-9863-783C6ED6583C}"/>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Case Study: Anthem</a:t>
            </a:r>
          </a:p>
        </p:txBody>
      </p:sp>
      <p:sp>
        <p:nvSpPr>
          <p:cNvPr id="4" name="Content Placeholder 3">
            <a:extLst>
              <a:ext uri="{FF2B5EF4-FFF2-40B4-BE49-F238E27FC236}">
                <a16:creationId xmlns:a16="http://schemas.microsoft.com/office/drawing/2014/main" id="{C9987230-86E8-7E46-F1E3-80AE722E2E5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RPA Implementation</a:t>
            </a:r>
          </a:p>
          <a:p>
            <a:pPr marL="0" lvl="1" indent="0">
              <a:buNone/>
            </a:pPr>
            <a:r>
              <a:rPr lang="en-US" sz="1400"/>
              <a:t>Anthem implemented Robotic Process Automation (RPA) to streamline and enhance claims processing efficiency.</a:t>
            </a:r>
          </a:p>
          <a:p>
            <a:pPr marL="0" indent="0">
              <a:spcBef>
                <a:spcPts val="2500"/>
              </a:spcBef>
              <a:buNone/>
            </a:pPr>
            <a:r>
              <a:rPr lang="en-US" sz="1400" b="1"/>
              <a:t>Time Reduction</a:t>
            </a:r>
          </a:p>
          <a:p>
            <a:pPr marL="0" lvl="1" indent="0">
              <a:buNone/>
            </a:pPr>
            <a:r>
              <a:rPr lang="en-US" sz="1400"/>
              <a:t>The automation led to a remarkable 90% reduction in processing time, significantly improving operational efficiency.</a:t>
            </a:r>
          </a:p>
          <a:p>
            <a:pPr marL="0" indent="0">
              <a:spcBef>
                <a:spcPts val="2500"/>
              </a:spcBef>
              <a:buNone/>
            </a:pPr>
            <a:r>
              <a:rPr lang="en-US" sz="1400" b="1"/>
              <a:t>Customer Satisfaction</a:t>
            </a:r>
          </a:p>
          <a:p>
            <a:pPr marL="0" lvl="1" indent="0">
              <a:buNone/>
            </a:pPr>
            <a:r>
              <a:rPr lang="en-US" sz="1400"/>
              <a:t>With faster processing times, customer satisfaction improved, positively impacting Anthem's reputation in the market.</a:t>
            </a:r>
          </a:p>
        </p:txBody>
      </p:sp>
    </p:spTree>
    <p:extLst>
      <p:ext uri="{BB962C8B-B14F-4D97-AF65-F5344CB8AC3E}">
        <p14:creationId xmlns:p14="http://schemas.microsoft.com/office/powerpoint/2010/main" val="565367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Horizontal color image of female hands holding a digital tablet in a modern plastic production line. Ordering on-line from injection moulding factory on a touchscreen tablet computer. Industrial aisle surrounded by modern equipment and machines which having busy robotic arms with molding shapes and producing plastic pieces for variety of industry. Labor intensive production line with manufacturing equipment - boxes, crates, packages, pallets,... Manufacturing equipment arranged on clean and shiny flooring in background.">
            <a:extLst>
              <a:ext uri="{FF2B5EF4-FFF2-40B4-BE49-F238E27FC236}">
                <a16:creationId xmlns:a16="http://schemas.microsoft.com/office/drawing/2014/main" id="{DBC5D92B-8F03-4DB0-BDC1-FB349AAD2F57}"/>
              </a:ext>
            </a:extLst>
          </p:cNvPr>
          <p:cNvPicPr>
            <a:picLocks noGrp="1" noChangeAspect="1"/>
          </p:cNvPicPr>
          <p:nvPr>
            <p:ph sz="half" idx="1"/>
          </p:nvPr>
        </p:nvPicPr>
        <p:blipFill>
          <a:blip r:embed="rId3"/>
          <a:srcRect l="22482" r="30348" b="-1"/>
          <a:stretch/>
        </p:blipFill>
        <p:spPr>
          <a:xfrm>
            <a:off x="7345680" y="10"/>
            <a:ext cx="4846320" cy="6857990"/>
          </a:xfrm>
          <a:prstGeom prst="rect">
            <a:avLst/>
          </a:prstGeom>
        </p:spPr>
      </p:pic>
      <p:sp>
        <p:nvSpPr>
          <p:cNvPr id="2" name="Title 1">
            <a:extLst>
              <a:ext uri="{FF2B5EF4-FFF2-40B4-BE49-F238E27FC236}">
                <a16:creationId xmlns:a16="http://schemas.microsoft.com/office/drawing/2014/main" id="{3D3CF3D2-A2D1-DE83-0A08-E25D02FBFA13}"/>
              </a:ext>
            </a:extLst>
          </p:cNvPr>
          <p:cNvSpPr>
            <a:spLocks noGrp="1"/>
          </p:cNvSpPr>
          <p:nvPr>
            <p:ph type="title"/>
          </p:nvPr>
        </p:nvSpPr>
        <p:spPr>
          <a:xfrm>
            <a:off x="612648" y="600075"/>
            <a:ext cx="6035040" cy="1529932"/>
          </a:xfrm>
        </p:spPr>
        <p:txBody>
          <a:bodyPr vert="horz" lIns="91440" tIns="45720" rIns="91440" bIns="45720" rtlCol="0" anchor="b">
            <a:normAutofit/>
          </a:bodyPr>
          <a:lstStyle/>
          <a:p>
            <a:r>
              <a:rPr lang="en-US" b="1" kern="1200">
                <a:solidFill>
                  <a:schemeClr val="tx1"/>
                </a:solidFill>
                <a:latin typeface="+mj-lt"/>
                <a:ea typeface="+mj-ea"/>
                <a:cs typeface="+mj-cs"/>
              </a:rPr>
              <a:t>Retail Industry Example</a:t>
            </a:r>
          </a:p>
        </p:txBody>
      </p:sp>
      <p:sp>
        <p:nvSpPr>
          <p:cNvPr id="4" name="Content Placeholder 3">
            <a:extLst>
              <a:ext uri="{FF2B5EF4-FFF2-40B4-BE49-F238E27FC236}">
                <a16:creationId xmlns:a16="http://schemas.microsoft.com/office/drawing/2014/main" id="{6F13E9FB-6918-118B-5D66-A0954602DC7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2212848"/>
            <a:ext cx="6035040" cy="4096512"/>
          </a:xfrm>
        </p:spPr>
        <p:txBody>
          <a:bodyPr>
            <a:normAutofit/>
          </a:bodyPr>
          <a:lstStyle/>
          <a:p>
            <a:pPr marL="0" indent="0">
              <a:spcBef>
                <a:spcPts val="2500"/>
              </a:spcBef>
              <a:buNone/>
            </a:pPr>
            <a:r>
              <a:rPr lang="en-US" sz="1400" b="1"/>
              <a:t>Inventory Management</a:t>
            </a:r>
          </a:p>
          <a:p>
            <a:pPr marL="0" lvl="1" indent="0">
              <a:buNone/>
            </a:pPr>
            <a:r>
              <a:rPr lang="en-US" sz="1400"/>
              <a:t>RPA streamlines inventory management by automating stock tracking and replenishment processes, reducing human error.</a:t>
            </a:r>
          </a:p>
          <a:p>
            <a:pPr marL="0" indent="0">
              <a:spcBef>
                <a:spcPts val="2500"/>
              </a:spcBef>
              <a:buNone/>
            </a:pPr>
            <a:r>
              <a:rPr lang="en-US" sz="1400" b="1"/>
              <a:t>Order Processing</a:t>
            </a:r>
          </a:p>
          <a:p>
            <a:pPr marL="0" lvl="1" indent="0">
              <a:buNone/>
            </a:pPr>
            <a:r>
              <a:rPr lang="en-US" sz="1400"/>
              <a:t>RPA enhances order processing efficiency by automating order entry, tracking, and fulfillment operations.</a:t>
            </a:r>
          </a:p>
          <a:p>
            <a:pPr marL="0" indent="0">
              <a:spcBef>
                <a:spcPts val="2500"/>
              </a:spcBef>
              <a:buNone/>
            </a:pPr>
            <a:r>
              <a:rPr lang="en-US" sz="1400" b="1"/>
              <a:t>Customer Service Improvement</a:t>
            </a:r>
          </a:p>
          <a:p>
            <a:pPr marL="0" lvl="1" indent="0">
              <a:buNone/>
            </a:pPr>
            <a:r>
              <a:rPr lang="en-US" sz="1400"/>
              <a:t>RPA tools improve customer service by automating responses to inquiries and managing customer interactions effectively.</a:t>
            </a:r>
          </a:p>
        </p:txBody>
      </p:sp>
    </p:spTree>
    <p:extLst>
      <p:ext uri="{BB962C8B-B14F-4D97-AF65-F5344CB8AC3E}">
        <p14:creationId xmlns:p14="http://schemas.microsoft.com/office/powerpoint/2010/main" val="37610287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Content Placeholder 4" descr="Shipping and logistics concept,cargo box">
            <a:extLst>
              <a:ext uri="{FF2B5EF4-FFF2-40B4-BE49-F238E27FC236}">
                <a16:creationId xmlns:a16="http://schemas.microsoft.com/office/drawing/2014/main" id="{511F08D5-18A9-4A60-8720-6956B78BD0CE}"/>
              </a:ext>
            </a:extLst>
          </p:cNvPr>
          <p:cNvPicPr>
            <a:picLocks noGrp="1" noChangeAspect="1"/>
          </p:cNvPicPr>
          <p:nvPr>
            <p:ph sz="half" idx="1"/>
          </p:nvPr>
        </p:nvPicPr>
        <p:blipFill>
          <a:blip r:embed="rId3"/>
          <a:srcRect l="7747" r="9415" b="-1"/>
          <a:stretch/>
        </p:blipFill>
        <p:spPr>
          <a:xfrm>
            <a:off x="731521" y="2011679"/>
            <a:ext cx="4684352" cy="4297680"/>
          </a:xfrm>
          <a:prstGeom prst="rect">
            <a:avLst/>
          </a:prstGeom>
        </p:spPr>
      </p:pic>
      <p:sp>
        <p:nvSpPr>
          <p:cNvPr id="2" name="Title 1">
            <a:extLst>
              <a:ext uri="{FF2B5EF4-FFF2-40B4-BE49-F238E27FC236}">
                <a16:creationId xmlns:a16="http://schemas.microsoft.com/office/drawing/2014/main" id="{21CB9465-C6DF-73E2-69E5-2304E53E4855}"/>
              </a:ext>
            </a:extLst>
          </p:cNvPr>
          <p:cNvSpPr>
            <a:spLocks noGrp="1"/>
          </p:cNvSpPr>
          <p:nvPr>
            <p:ph type="title"/>
          </p:nvPr>
        </p:nvSpPr>
        <p:spPr>
          <a:xfrm>
            <a:off x="614679" y="548641"/>
            <a:ext cx="4779572" cy="1298448"/>
          </a:xfrm>
        </p:spPr>
        <p:txBody>
          <a:bodyPr vert="horz" lIns="91440" tIns="45720" rIns="91440" bIns="45720" rtlCol="0" anchor="t">
            <a:normAutofit/>
          </a:bodyPr>
          <a:lstStyle/>
          <a:p>
            <a:r>
              <a:rPr lang="en-US" b="1" kern="1200">
                <a:solidFill>
                  <a:schemeClr val="tx1"/>
                </a:solidFill>
                <a:latin typeface="+mj-lt"/>
                <a:ea typeface="+mj-ea"/>
                <a:cs typeface="+mj-cs"/>
              </a:rPr>
              <a:t>Case Study: Walmart</a:t>
            </a:r>
          </a:p>
        </p:txBody>
      </p:sp>
      <p:sp>
        <p:nvSpPr>
          <p:cNvPr id="4" name="Content Placeholder 3">
            <a:extLst>
              <a:ext uri="{FF2B5EF4-FFF2-40B4-BE49-F238E27FC236}">
                <a16:creationId xmlns:a16="http://schemas.microsoft.com/office/drawing/2014/main" id="{B873FCC1-6E2D-6C02-C561-AB3855595AC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0551" y="548638"/>
            <a:ext cx="5546770" cy="5760721"/>
          </a:xfrm>
        </p:spPr>
        <p:txBody>
          <a:bodyPr>
            <a:normAutofit/>
          </a:bodyPr>
          <a:lstStyle/>
          <a:p>
            <a:pPr marL="0" indent="0">
              <a:spcBef>
                <a:spcPts val="2500"/>
              </a:spcBef>
              <a:buNone/>
            </a:pPr>
            <a:r>
              <a:rPr lang="en-US" sz="1400" b="1"/>
              <a:t>Implementation of RPA</a:t>
            </a:r>
          </a:p>
          <a:p>
            <a:pPr marL="0" lvl="1" indent="0">
              <a:buNone/>
            </a:pPr>
            <a:r>
              <a:rPr lang="en-US" sz="1400"/>
              <a:t>Walmart's use of RPA transformed its inventory management processes, significantly improving efficiency across the supply chain.</a:t>
            </a:r>
          </a:p>
          <a:p>
            <a:pPr marL="0" indent="0">
              <a:spcBef>
                <a:spcPts val="2500"/>
              </a:spcBef>
              <a:buNone/>
            </a:pPr>
            <a:r>
              <a:rPr lang="en-US" sz="1400" b="1"/>
              <a:t>Streamlined Supply Chain</a:t>
            </a:r>
          </a:p>
          <a:p>
            <a:pPr marL="0" lvl="1" indent="0">
              <a:buNone/>
            </a:pPr>
            <a:r>
              <a:rPr lang="en-US" sz="1400"/>
              <a:t>The implementation of RPA led to a more streamlined supply chain, enhancing overall operational efficiency.</a:t>
            </a:r>
          </a:p>
          <a:p>
            <a:pPr marL="0" indent="0">
              <a:spcBef>
                <a:spcPts val="2500"/>
              </a:spcBef>
              <a:buNone/>
            </a:pPr>
            <a:r>
              <a:rPr lang="en-US" sz="1400" b="1"/>
              <a:t>Reduced Stockouts</a:t>
            </a:r>
          </a:p>
          <a:p>
            <a:pPr marL="0" lvl="1" indent="0">
              <a:buNone/>
            </a:pPr>
            <a:r>
              <a:rPr lang="en-US" sz="1400"/>
              <a:t>With improved inventory management, Walmart experienced a significant reduction in stockouts, ensuring product availability for customers.</a:t>
            </a:r>
          </a:p>
          <a:p>
            <a:pPr marL="0" indent="0">
              <a:spcBef>
                <a:spcPts val="2500"/>
              </a:spcBef>
              <a:buNone/>
            </a:pPr>
            <a:r>
              <a:rPr lang="en-US" sz="1400" b="1"/>
              <a:t>Improved Inventory Accuracy</a:t>
            </a:r>
          </a:p>
          <a:p>
            <a:pPr marL="0" lvl="1" indent="0">
              <a:buNone/>
            </a:pPr>
            <a:r>
              <a:rPr lang="en-US" sz="1400"/>
              <a:t>The use of RPA has also led to improved inventory accuracy, minimizing discrepancies and optimizing stock levels.</a:t>
            </a:r>
          </a:p>
        </p:txBody>
      </p:sp>
    </p:spTree>
    <p:extLst>
      <p:ext uri="{BB962C8B-B14F-4D97-AF65-F5344CB8AC3E}">
        <p14:creationId xmlns:p14="http://schemas.microsoft.com/office/powerpoint/2010/main" val="21900668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onceptual image representing mosaic media interface and the digital software. A wall of screens curves away from view, shimmering with an assortment of random graphics, animations and simple icon images.">
            <a:extLst>
              <a:ext uri="{FF2B5EF4-FFF2-40B4-BE49-F238E27FC236}">
                <a16:creationId xmlns:a16="http://schemas.microsoft.com/office/drawing/2014/main" id="{7788D64E-0ADE-4A44-A2AB-2AF030DFFF6A}"/>
              </a:ext>
            </a:extLst>
          </p:cNvPr>
          <p:cNvPicPr>
            <a:picLocks noGrp="1" noChangeAspect="1"/>
          </p:cNvPicPr>
          <p:nvPr>
            <p:ph sz="half" idx="1"/>
          </p:nvPr>
        </p:nvPicPr>
        <p:blipFill>
          <a:blip r:embed="rId3"/>
          <a:srcRect l="28916" r="17385"/>
          <a:stretch/>
        </p:blipFill>
        <p:spPr>
          <a:xfrm>
            <a:off x="20" y="10"/>
            <a:ext cx="4910308" cy="6857990"/>
          </a:xfrm>
          <a:prstGeom prst="rect">
            <a:avLst/>
          </a:prstGeom>
        </p:spPr>
      </p:pic>
      <p:sp>
        <p:nvSpPr>
          <p:cNvPr id="2" name="Title 1">
            <a:extLst>
              <a:ext uri="{FF2B5EF4-FFF2-40B4-BE49-F238E27FC236}">
                <a16:creationId xmlns:a16="http://schemas.microsoft.com/office/drawing/2014/main" id="{C6C267A3-8068-BA7A-53EC-B1994F7C60FA}"/>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Manufacturing Industry Example</a:t>
            </a:r>
          </a:p>
        </p:txBody>
      </p:sp>
      <p:sp>
        <p:nvSpPr>
          <p:cNvPr id="4" name="Content Placeholder 3">
            <a:extLst>
              <a:ext uri="{FF2B5EF4-FFF2-40B4-BE49-F238E27FC236}">
                <a16:creationId xmlns:a16="http://schemas.microsoft.com/office/drawing/2014/main" id="{6E12C51A-8F91-3799-9DD7-9C7D0487A81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Supply Chain Management</a:t>
            </a:r>
          </a:p>
          <a:p>
            <a:pPr marL="0" lvl="1" indent="0">
              <a:buNone/>
            </a:pPr>
            <a:r>
              <a:rPr lang="en-US" sz="1400"/>
              <a:t>RPA optimizes supply chain management by automating order processing and inventory tracking, leading to efficiency.</a:t>
            </a:r>
          </a:p>
          <a:p>
            <a:pPr marL="0" indent="0">
              <a:spcBef>
                <a:spcPts val="2500"/>
              </a:spcBef>
              <a:buNone/>
            </a:pPr>
            <a:r>
              <a:rPr lang="en-US" sz="1400" b="1"/>
              <a:t>Quality Control</a:t>
            </a:r>
          </a:p>
          <a:p>
            <a:pPr marL="0" lvl="1" indent="0">
              <a:buNone/>
            </a:pPr>
            <a:r>
              <a:rPr lang="en-US" sz="1400"/>
              <a:t>RPA enhances quality control processes by automating inspection and reporting, ensuring higher product standards.</a:t>
            </a:r>
          </a:p>
          <a:p>
            <a:pPr marL="0" indent="0">
              <a:spcBef>
                <a:spcPts val="2500"/>
              </a:spcBef>
              <a:buNone/>
            </a:pPr>
            <a:r>
              <a:rPr lang="en-US" sz="1400" b="1"/>
              <a:t>Production Scheduling</a:t>
            </a:r>
          </a:p>
          <a:p>
            <a:pPr marL="0" lvl="1" indent="0">
              <a:buNone/>
            </a:pPr>
            <a:r>
              <a:rPr lang="en-US" sz="1400"/>
              <a:t>RPA improves production scheduling by automating task assignments and timelines, reducing downtime significantly.</a:t>
            </a:r>
          </a:p>
        </p:txBody>
      </p:sp>
    </p:spTree>
    <p:extLst>
      <p:ext uri="{BB962C8B-B14F-4D97-AF65-F5344CB8AC3E}">
        <p14:creationId xmlns:p14="http://schemas.microsoft.com/office/powerpoint/2010/main" val="23270711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larm clock isolated on white background">
            <a:extLst>
              <a:ext uri="{FF2B5EF4-FFF2-40B4-BE49-F238E27FC236}">
                <a16:creationId xmlns:a16="http://schemas.microsoft.com/office/drawing/2014/main" id="{F3A721BF-48A4-403E-8C56-121400A7178C}"/>
              </a:ext>
            </a:extLst>
          </p:cNvPr>
          <p:cNvPicPr>
            <a:picLocks noGrp="1" noChangeAspect="1"/>
          </p:cNvPicPr>
          <p:nvPr>
            <p:ph sz="half" idx="1"/>
          </p:nvPr>
        </p:nvPicPr>
        <p:blipFill>
          <a:blip r:embed="rId3"/>
          <a:srcRect l="34247" r="12053"/>
          <a:stretch/>
        </p:blipFill>
        <p:spPr>
          <a:xfrm>
            <a:off x="20" y="10"/>
            <a:ext cx="4910308" cy="6857990"/>
          </a:xfrm>
          <a:prstGeom prst="rect">
            <a:avLst/>
          </a:prstGeom>
        </p:spPr>
      </p:pic>
      <p:sp>
        <p:nvSpPr>
          <p:cNvPr id="2" name="Title 1">
            <a:extLst>
              <a:ext uri="{FF2B5EF4-FFF2-40B4-BE49-F238E27FC236}">
                <a16:creationId xmlns:a16="http://schemas.microsoft.com/office/drawing/2014/main" id="{750CFBB9-25A4-2ABB-F689-C7A7E9A0F072}"/>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Case Study: Siemens</a:t>
            </a:r>
          </a:p>
        </p:txBody>
      </p:sp>
      <p:sp>
        <p:nvSpPr>
          <p:cNvPr id="4" name="Content Placeholder 3">
            <a:extLst>
              <a:ext uri="{FF2B5EF4-FFF2-40B4-BE49-F238E27FC236}">
                <a16:creationId xmlns:a16="http://schemas.microsoft.com/office/drawing/2014/main" id="{391217E6-A1ED-6760-FC4D-21B1D52B56C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RPA Implementation</a:t>
            </a:r>
          </a:p>
          <a:p>
            <a:pPr marL="0" lvl="1" indent="0">
              <a:buNone/>
            </a:pPr>
            <a:r>
              <a:rPr lang="en-US" sz="1400"/>
              <a:t>Siemens implemented Robotic Process Automation (RPA) to enhance efficiency in its supply chain operations.</a:t>
            </a:r>
          </a:p>
          <a:p>
            <a:pPr marL="0" indent="0">
              <a:spcBef>
                <a:spcPts val="2500"/>
              </a:spcBef>
              <a:buNone/>
            </a:pPr>
            <a:r>
              <a:rPr lang="en-US" sz="1400" b="1"/>
              <a:t>Order Processing Time Reduction</a:t>
            </a:r>
          </a:p>
          <a:p>
            <a:pPr marL="0" lvl="1" indent="0">
              <a:buNone/>
            </a:pPr>
            <a:r>
              <a:rPr lang="en-US" sz="1400"/>
              <a:t>The automation led to a remarkable 50% reduction in order processing time, significantly improving operational efficiency.</a:t>
            </a:r>
          </a:p>
          <a:p>
            <a:pPr marL="0" indent="0">
              <a:spcBef>
                <a:spcPts val="2500"/>
              </a:spcBef>
              <a:buNone/>
            </a:pPr>
            <a:r>
              <a:rPr lang="en-US" sz="1400" b="1"/>
              <a:t>Streamlined Supplier Communications</a:t>
            </a:r>
          </a:p>
          <a:p>
            <a:pPr marL="0" lvl="1" indent="0">
              <a:buNone/>
            </a:pPr>
            <a:r>
              <a:rPr lang="en-US" sz="1400"/>
              <a:t>RPA facilitated smoother and faster communication channels with suppliers, enhancing collaboration and responsiveness.</a:t>
            </a:r>
          </a:p>
        </p:txBody>
      </p:sp>
    </p:spTree>
    <p:extLst>
      <p:ext uri="{BB962C8B-B14F-4D97-AF65-F5344CB8AC3E}">
        <p14:creationId xmlns:p14="http://schemas.microsoft.com/office/powerpoint/2010/main" val="10179656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660D536F-CE1D-1172-89B2-FE94AD890400}"/>
              </a:ext>
            </a:extLst>
          </p:cNvPr>
          <p:cNvSpPr>
            <a:spLocks noGrp="1"/>
          </p:cNvSpPr>
          <p:nvPr>
            <p:ph type="title"/>
          </p:nvPr>
        </p:nvSpPr>
        <p:spPr>
          <a:xfrm>
            <a:off x="614679" y="548639"/>
            <a:ext cx="3977640" cy="5719640"/>
          </a:xfrm>
        </p:spPr>
        <p:txBody>
          <a:bodyPr anchor="t">
            <a:normAutofit/>
          </a:bodyPr>
          <a:lstStyle/>
          <a:p>
            <a:r>
              <a:rPr lang="en-US" sz="2800"/>
              <a:t>Telecommunications Industry Example</a:t>
            </a:r>
          </a:p>
        </p:txBody>
      </p:sp>
      <p:graphicFrame>
        <p:nvGraphicFramePr>
          <p:cNvPr id="4" name="Content Placeholder 4">
            <a:extLst>
              <a:ext uri="{FF2B5EF4-FFF2-40B4-BE49-F238E27FC236}">
                <a16:creationId xmlns:a16="http://schemas.microsoft.com/office/drawing/2014/main" id="{1BCCCB3B-3E27-4744-8040-888C9B4B05F8}"/>
              </a:ext>
            </a:extLst>
          </p:cNvPr>
          <p:cNvGraphicFramePr>
            <a:graphicFrameLocks noGrp="1"/>
          </p:cNvGraphicFramePr>
          <p:nvPr>
            <p:ph idx="1"/>
            <p:extLst>
              <p:ext uri="{D42A27DB-BD31-4B8C-83A1-F6EECF244321}">
                <p14:modId xmlns:p14="http://schemas.microsoft.com/office/powerpoint/2010/main" val="3582926547"/>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5387542" y="548639"/>
          <a:ext cx="6189780" cy="5719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8070933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USTOMER SERVICE CONCEPT">
            <a:extLst>
              <a:ext uri="{FF2B5EF4-FFF2-40B4-BE49-F238E27FC236}">
                <a16:creationId xmlns:a16="http://schemas.microsoft.com/office/drawing/2014/main" id="{F59D6E30-DEF0-4EF1-A5D1-A680E2B8CD73}"/>
              </a:ext>
            </a:extLst>
          </p:cNvPr>
          <p:cNvPicPr>
            <a:picLocks noGrp="1" noChangeAspect="1"/>
          </p:cNvPicPr>
          <p:nvPr>
            <p:ph sz="half" idx="1"/>
          </p:nvPr>
        </p:nvPicPr>
        <p:blipFill>
          <a:blip r:embed="rId3"/>
          <a:srcRect r="52206" b="-1"/>
          <a:stretch/>
        </p:blipFill>
        <p:spPr>
          <a:xfrm>
            <a:off x="20" y="10"/>
            <a:ext cx="4910308" cy="6857990"/>
          </a:xfrm>
          <a:prstGeom prst="rect">
            <a:avLst/>
          </a:prstGeom>
        </p:spPr>
      </p:pic>
      <p:sp>
        <p:nvSpPr>
          <p:cNvPr id="2" name="Title 1">
            <a:extLst>
              <a:ext uri="{FF2B5EF4-FFF2-40B4-BE49-F238E27FC236}">
                <a16:creationId xmlns:a16="http://schemas.microsoft.com/office/drawing/2014/main" id="{A73E1C75-7505-12D5-4026-3C7C5C82119C}"/>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Case Study: Vodafone</a:t>
            </a:r>
          </a:p>
        </p:txBody>
      </p:sp>
      <p:sp>
        <p:nvSpPr>
          <p:cNvPr id="4" name="Content Placeholder 3">
            <a:extLst>
              <a:ext uri="{FF2B5EF4-FFF2-40B4-BE49-F238E27FC236}">
                <a16:creationId xmlns:a16="http://schemas.microsoft.com/office/drawing/2014/main" id="{7A3DB03A-AE4D-2C10-3474-C0B3C6C0B6F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Automation of Customer Service</a:t>
            </a:r>
          </a:p>
          <a:p>
            <a:pPr marL="0" lvl="1" indent="0">
              <a:buNone/>
            </a:pPr>
            <a:r>
              <a:rPr lang="en-US" sz="1400"/>
              <a:t>Vodafone utilized Robotic Process Automation (RPA) to streamline customer service inquiries effectively.</a:t>
            </a:r>
          </a:p>
          <a:p>
            <a:pPr marL="0" indent="0">
              <a:spcBef>
                <a:spcPts val="2500"/>
              </a:spcBef>
              <a:buNone/>
            </a:pPr>
            <a:r>
              <a:rPr lang="en-US" sz="1400" b="1"/>
              <a:t>Reduced Response Times</a:t>
            </a:r>
          </a:p>
          <a:p>
            <a:pPr marL="0" lvl="1" indent="0">
              <a:buNone/>
            </a:pPr>
            <a:r>
              <a:rPr lang="en-US" sz="1400"/>
              <a:t>By implementing RPA, Vodafone achieved an impressive reduction in response times by 80%, leading to faster resolutions.</a:t>
            </a:r>
          </a:p>
          <a:p>
            <a:pPr marL="0" indent="0">
              <a:spcBef>
                <a:spcPts val="2500"/>
              </a:spcBef>
              <a:buNone/>
            </a:pPr>
            <a:r>
              <a:rPr lang="en-US" sz="1400" b="1"/>
              <a:t>Improved Customer Satisfaction</a:t>
            </a:r>
          </a:p>
          <a:p>
            <a:pPr marL="0" lvl="1" indent="0">
              <a:buNone/>
            </a:pPr>
            <a:r>
              <a:rPr lang="en-US" sz="1400"/>
              <a:t>The integration of RPA not only improved efficiency but also significantly enhanced customer satisfaction ratings.</a:t>
            </a:r>
          </a:p>
        </p:txBody>
      </p:sp>
    </p:spTree>
    <p:extLst>
      <p:ext uri="{BB962C8B-B14F-4D97-AF65-F5344CB8AC3E}">
        <p14:creationId xmlns:p14="http://schemas.microsoft.com/office/powerpoint/2010/main" val="8550465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Rules for compliance with policies business">
            <a:extLst>
              <a:ext uri="{FF2B5EF4-FFF2-40B4-BE49-F238E27FC236}">
                <a16:creationId xmlns:a16="http://schemas.microsoft.com/office/drawing/2014/main" id="{3F98A748-189F-409A-AC22-969289FAD058}"/>
              </a:ext>
            </a:extLst>
          </p:cNvPr>
          <p:cNvPicPr>
            <a:picLocks noGrp="1" noChangeAspect="1"/>
          </p:cNvPicPr>
          <p:nvPr>
            <p:ph sz="half" idx="1"/>
          </p:nvPr>
        </p:nvPicPr>
        <p:blipFill>
          <a:blip r:embed="rId3"/>
          <a:srcRect l="25451" r="26755" b="-1"/>
          <a:stretch/>
        </p:blipFill>
        <p:spPr>
          <a:xfrm>
            <a:off x="20" y="10"/>
            <a:ext cx="4910308" cy="6857990"/>
          </a:xfrm>
          <a:prstGeom prst="rect">
            <a:avLst/>
          </a:prstGeom>
        </p:spPr>
      </p:pic>
      <p:sp>
        <p:nvSpPr>
          <p:cNvPr id="2" name="Title 1">
            <a:extLst>
              <a:ext uri="{FF2B5EF4-FFF2-40B4-BE49-F238E27FC236}">
                <a16:creationId xmlns:a16="http://schemas.microsoft.com/office/drawing/2014/main" id="{C7A40BB6-2B58-38E7-63E0-B4EF24A34AEF}"/>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Insurance Industry Example</a:t>
            </a:r>
          </a:p>
        </p:txBody>
      </p:sp>
      <p:sp>
        <p:nvSpPr>
          <p:cNvPr id="4" name="Content Placeholder 3">
            <a:extLst>
              <a:ext uri="{FF2B5EF4-FFF2-40B4-BE49-F238E27FC236}">
                <a16:creationId xmlns:a16="http://schemas.microsoft.com/office/drawing/2014/main" id="{BC870417-995F-DD88-0524-AFE1A81C522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Underwriting Process</a:t>
            </a:r>
          </a:p>
          <a:p>
            <a:pPr marL="0" lvl="1" indent="0">
              <a:buNone/>
            </a:pPr>
            <a:r>
              <a:rPr lang="en-US" sz="1400"/>
              <a:t>RPA automates the underwriting process, leading to faster assessments and improved accuracy in risk evaluation.</a:t>
            </a:r>
          </a:p>
          <a:p>
            <a:pPr marL="0" indent="0">
              <a:spcBef>
                <a:spcPts val="2500"/>
              </a:spcBef>
              <a:buNone/>
            </a:pPr>
            <a:r>
              <a:rPr lang="en-US" sz="1400" b="1"/>
              <a:t>Claims Processing</a:t>
            </a:r>
          </a:p>
          <a:p>
            <a:pPr marL="0" lvl="1" indent="0">
              <a:buNone/>
            </a:pPr>
            <a:r>
              <a:rPr lang="en-US" sz="1400"/>
              <a:t>Robotic process automation streamlines claims processing by reducing manual tasks and speeding up claim approvals.</a:t>
            </a:r>
          </a:p>
          <a:p>
            <a:pPr marL="0" indent="0">
              <a:spcBef>
                <a:spcPts val="2500"/>
              </a:spcBef>
              <a:buNone/>
            </a:pPr>
            <a:r>
              <a:rPr lang="en-US" sz="1400" b="1"/>
              <a:t>Regulatory Compliance</a:t>
            </a:r>
          </a:p>
          <a:p>
            <a:pPr marL="0" lvl="1" indent="0">
              <a:buNone/>
            </a:pPr>
            <a:r>
              <a:rPr lang="en-US" sz="1400"/>
              <a:t>RPA helps ensure regulatory compliance by automating data collection and reporting, minimizing the risk of errors.</a:t>
            </a:r>
          </a:p>
        </p:txBody>
      </p:sp>
    </p:spTree>
    <p:extLst>
      <p:ext uri="{BB962C8B-B14F-4D97-AF65-F5344CB8AC3E}">
        <p14:creationId xmlns:p14="http://schemas.microsoft.com/office/powerpoint/2010/main" val="5567154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ustomer service representative on touch screen.">
            <a:extLst>
              <a:ext uri="{FF2B5EF4-FFF2-40B4-BE49-F238E27FC236}">
                <a16:creationId xmlns:a16="http://schemas.microsoft.com/office/drawing/2014/main" id="{1F820737-565E-44C0-871B-8F88C4B889E2}"/>
              </a:ext>
            </a:extLst>
          </p:cNvPr>
          <p:cNvPicPr>
            <a:picLocks noGrp="1" noChangeAspect="1"/>
          </p:cNvPicPr>
          <p:nvPr>
            <p:ph sz="half" idx="1"/>
          </p:nvPr>
        </p:nvPicPr>
        <p:blipFill>
          <a:blip r:embed="rId3"/>
          <a:srcRect l="21796" r="30411" b="-1"/>
          <a:stretch/>
        </p:blipFill>
        <p:spPr>
          <a:xfrm>
            <a:off x="20" y="10"/>
            <a:ext cx="4910308" cy="6857990"/>
          </a:xfrm>
          <a:prstGeom prst="rect">
            <a:avLst/>
          </a:prstGeom>
        </p:spPr>
      </p:pic>
      <p:sp>
        <p:nvSpPr>
          <p:cNvPr id="2" name="Title 1">
            <a:extLst>
              <a:ext uri="{FF2B5EF4-FFF2-40B4-BE49-F238E27FC236}">
                <a16:creationId xmlns:a16="http://schemas.microsoft.com/office/drawing/2014/main" id="{1F1B0CE1-D38C-96A4-B7C1-02ED30F8F1C5}"/>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Case Study: AXA</a:t>
            </a:r>
          </a:p>
        </p:txBody>
      </p:sp>
      <p:sp>
        <p:nvSpPr>
          <p:cNvPr id="4" name="Content Placeholder 3">
            <a:extLst>
              <a:ext uri="{FF2B5EF4-FFF2-40B4-BE49-F238E27FC236}">
                <a16:creationId xmlns:a16="http://schemas.microsoft.com/office/drawing/2014/main" id="{ABD87535-9E13-C0BE-8E82-7824D76D769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RPA Implementation</a:t>
            </a:r>
          </a:p>
          <a:p>
            <a:pPr marL="0" lvl="1" indent="0">
              <a:buNone/>
            </a:pPr>
            <a:r>
              <a:rPr lang="en-US" sz="1400"/>
              <a:t>AXA implemented robotic process automation (RPA) to enhance the efficiency of its claims processing operations.</a:t>
            </a:r>
          </a:p>
          <a:p>
            <a:pPr marL="0" indent="0">
              <a:spcBef>
                <a:spcPts val="2500"/>
              </a:spcBef>
              <a:buNone/>
            </a:pPr>
            <a:r>
              <a:rPr lang="en-US" sz="1400" b="1"/>
              <a:t>Faster Claims Resolution</a:t>
            </a:r>
          </a:p>
          <a:p>
            <a:pPr marL="0" lvl="1" indent="0">
              <a:buNone/>
            </a:pPr>
            <a:r>
              <a:rPr lang="en-US" sz="1400"/>
              <a:t>The use of RPA allowed AXA to resolve claims much faster, benefiting both the company and its customers.</a:t>
            </a:r>
          </a:p>
          <a:p>
            <a:pPr marL="0" indent="0">
              <a:spcBef>
                <a:spcPts val="2500"/>
              </a:spcBef>
              <a:buNone/>
            </a:pPr>
            <a:r>
              <a:rPr lang="en-US" sz="1400" b="1"/>
              <a:t>Enhanced Customer Experience</a:t>
            </a:r>
          </a:p>
          <a:p>
            <a:pPr marL="0" lvl="1" indent="0">
              <a:buNone/>
            </a:pPr>
            <a:r>
              <a:rPr lang="en-US" sz="1400"/>
              <a:t>AXA's adoption of RPA led to significantly improved customer experiences, streamlining communication and service delivery.</a:t>
            </a:r>
          </a:p>
        </p:txBody>
      </p:sp>
    </p:spTree>
    <p:extLst>
      <p:ext uri="{BB962C8B-B14F-4D97-AF65-F5344CB8AC3E}">
        <p14:creationId xmlns:p14="http://schemas.microsoft.com/office/powerpoint/2010/main" val="31012918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Network Servers and Artificial Intelligence Industry">
            <a:extLst>
              <a:ext uri="{FF2B5EF4-FFF2-40B4-BE49-F238E27FC236}">
                <a16:creationId xmlns:a16="http://schemas.microsoft.com/office/drawing/2014/main" id="{47CA5DFF-BB96-4290-98DC-CCA74B7E9385}"/>
              </a:ext>
            </a:extLst>
          </p:cNvPr>
          <p:cNvPicPr>
            <a:picLocks noGrp="1" noChangeAspect="1"/>
          </p:cNvPicPr>
          <p:nvPr>
            <p:ph sz="half" idx="1"/>
          </p:nvPr>
        </p:nvPicPr>
        <p:blipFill>
          <a:blip r:embed="rId3"/>
          <a:srcRect l="29268" r="30457"/>
          <a:stretch/>
        </p:blipFill>
        <p:spPr>
          <a:xfrm>
            <a:off x="20" y="10"/>
            <a:ext cx="4910308" cy="6857990"/>
          </a:xfrm>
          <a:prstGeom prst="rect">
            <a:avLst/>
          </a:prstGeom>
        </p:spPr>
      </p:pic>
      <p:sp>
        <p:nvSpPr>
          <p:cNvPr id="2" name="Title 1">
            <a:extLst>
              <a:ext uri="{FF2B5EF4-FFF2-40B4-BE49-F238E27FC236}">
                <a16:creationId xmlns:a16="http://schemas.microsoft.com/office/drawing/2014/main" id="{4B15FE2C-368C-B7AC-655B-DE961272DD72}"/>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RPA in Government</a:t>
            </a:r>
          </a:p>
        </p:txBody>
      </p:sp>
      <p:sp>
        <p:nvSpPr>
          <p:cNvPr id="4" name="Content Placeholder 3">
            <a:extLst>
              <a:ext uri="{FF2B5EF4-FFF2-40B4-BE49-F238E27FC236}">
                <a16:creationId xmlns:a16="http://schemas.microsoft.com/office/drawing/2014/main" id="{29D6579D-3386-9601-AE9B-234055D5981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Data Entry Automation</a:t>
            </a:r>
          </a:p>
          <a:p>
            <a:pPr marL="0" lvl="1" indent="0">
              <a:buNone/>
            </a:pPr>
            <a:r>
              <a:rPr lang="en-US" sz="1400"/>
              <a:t>RPA streamlines data entry processes in government agencies, reducing manual workload and errors.</a:t>
            </a:r>
          </a:p>
          <a:p>
            <a:pPr marL="0" indent="0">
              <a:spcBef>
                <a:spcPts val="2500"/>
              </a:spcBef>
              <a:buNone/>
            </a:pPr>
            <a:r>
              <a:rPr lang="en-US" sz="1400" b="1"/>
              <a:t>Application Processing</a:t>
            </a:r>
          </a:p>
          <a:p>
            <a:pPr marL="0" lvl="1" indent="0">
              <a:buNone/>
            </a:pPr>
            <a:r>
              <a:rPr lang="en-US" sz="1400"/>
              <a:t>RPA facilitates faster processing of applications, improving efficiency in government services.</a:t>
            </a:r>
          </a:p>
          <a:p>
            <a:pPr marL="0" indent="0">
              <a:spcBef>
                <a:spcPts val="2500"/>
              </a:spcBef>
              <a:buNone/>
            </a:pPr>
            <a:r>
              <a:rPr lang="en-US" sz="1400" b="1"/>
              <a:t>Records Management</a:t>
            </a:r>
          </a:p>
          <a:p>
            <a:pPr marL="0" lvl="1" indent="0">
              <a:buNone/>
            </a:pPr>
            <a:r>
              <a:rPr lang="en-US" sz="1400"/>
              <a:t>Government agencies utilize RPA for efficient management of records, ensuring compliance and easy access.</a:t>
            </a:r>
          </a:p>
        </p:txBody>
      </p:sp>
    </p:spTree>
    <p:extLst>
      <p:ext uri="{BB962C8B-B14F-4D97-AF65-F5344CB8AC3E}">
        <p14:creationId xmlns:p14="http://schemas.microsoft.com/office/powerpoint/2010/main" val="34504982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fourth industrial revolution technology concept">
            <a:extLst>
              <a:ext uri="{FF2B5EF4-FFF2-40B4-BE49-F238E27FC236}">
                <a16:creationId xmlns:a16="http://schemas.microsoft.com/office/drawing/2014/main" id="{5887215B-7E95-4265-A380-3498FF65B427}"/>
              </a:ext>
            </a:extLst>
          </p:cNvPr>
          <p:cNvPicPr>
            <a:picLocks noGrp="1" noChangeAspect="1"/>
          </p:cNvPicPr>
          <p:nvPr>
            <p:ph sz="half" idx="1"/>
          </p:nvPr>
        </p:nvPicPr>
        <p:blipFill>
          <a:blip r:embed="rId3"/>
          <a:srcRect l="29671" r="30054"/>
          <a:stretch/>
        </p:blipFill>
        <p:spPr>
          <a:xfrm>
            <a:off x="20" y="10"/>
            <a:ext cx="4910308" cy="6857990"/>
          </a:xfrm>
          <a:prstGeom prst="rect">
            <a:avLst/>
          </a:prstGeom>
        </p:spPr>
      </p:pic>
      <p:sp>
        <p:nvSpPr>
          <p:cNvPr id="2" name="Title 1">
            <a:extLst>
              <a:ext uri="{FF2B5EF4-FFF2-40B4-BE49-F238E27FC236}">
                <a16:creationId xmlns:a16="http://schemas.microsoft.com/office/drawing/2014/main" id="{5E30EE35-2FBD-DEC6-4FBC-A9579381502D}"/>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Case Study: The UK Government</a:t>
            </a:r>
          </a:p>
        </p:txBody>
      </p:sp>
      <p:sp>
        <p:nvSpPr>
          <p:cNvPr id="4" name="Content Placeholder 3">
            <a:extLst>
              <a:ext uri="{FF2B5EF4-FFF2-40B4-BE49-F238E27FC236}">
                <a16:creationId xmlns:a16="http://schemas.microsoft.com/office/drawing/2014/main" id="{04E793B1-4356-4E92-2049-68E77E043E9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Adoption of RPA</a:t>
            </a:r>
          </a:p>
          <a:p>
            <a:pPr marL="0" lvl="1" indent="0">
              <a:buNone/>
            </a:pPr>
            <a:r>
              <a:rPr lang="en-US" sz="1400"/>
              <a:t>The UK Government implemented Robotic Process Automation (RPA) to streamline administrative functions across various departments.</a:t>
            </a:r>
          </a:p>
          <a:p>
            <a:pPr marL="0" indent="0">
              <a:spcBef>
                <a:spcPts val="2500"/>
              </a:spcBef>
              <a:buNone/>
            </a:pPr>
            <a:r>
              <a:rPr lang="en-US" sz="1400" b="1"/>
              <a:t>Cost Savings</a:t>
            </a:r>
          </a:p>
          <a:p>
            <a:pPr marL="0" lvl="1" indent="0">
              <a:buNone/>
            </a:pPr>
            <a:r>
              <a:rPr lang="en-US" sz="1400"/>
              <a:t>Automation through RPA has led to significant cost reductions in government operations by minimizing manual tasks.</a:t>
            </a:r>
          </a:p>
          <a:p>
            <a:pPr marL="0" indent="0">
              <a:spcBef>
                <a:spcPts val="2500"/>
              </a:spcBef>
              <a:buNone/>
            </a:pPr>
            <a:r>
              <a:rPr lang="en-US" sz="1400" b="1"/>
              <a:t>Improved Service Outcomes</a:t>
            </a:r>
          </a:p>
          <a:p>
            <a:pPr marL="0" lvl="1" indent="0">
              <a:buNone/>
            </a:pPr>
            <a:r>
              <a:rPr lang="en-US" sz="1400"/>
              <a:t>RPA has enhanced service delivery outcomes by increasing efficiency and accuracy in government processes.</a:t>
            </a:r>
          </a:p>
        </p:txBody>
      </p:sp>
    </p:spTree>
    <p:extLst>
      <p:ext uri="{BB962C8B-B14F-4D97-AF65-F5344CB8AC3E}">
        <p14:creationId xmlns:p14="http://schemas.microsoft.com/office/powerpoint/2010/main" val="26194503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Global communication and collaboration intricately involving electronic ropes and keys through social networking of smart phones equipped with AI.">
            <a:extLst>
              <a:ext uri="{FF2B5EF4-FFF2-40B4-BE49-F238E27FC236}">
                <a16:creationId xmlns:a16="http://schemas.microsoft.com/office/drawing/2014/main" id="{C32BB460-3ECC-446F-A98E-A3C4B28B445F}"/>
              </a:ext>
            </a:extLst>
          </p:cNvPr>
          <p:cNvPicPr>
            <a:picLocks noGrp="1" noChangeAspect="1"/>
          </p:cNvPicPr>
          <p:nvPr>
            <p:ph sz="half" idx="1"/>
          </p:nvPr>
        </p:nvPicPr>
        <p:blipFill>
          <a:blip r:embed="rId3"/>
          <a:srcRect l="30090" r="22116" b="-1"/>
          <a:stretch/>
        </p:blipFill>
        <p:spPr>
          <a:xfrm>
            <a:off x="20" y="10"/>
            <a:ext cx="4910308" cy="6857990"/>
          </a:xfrm>
          <a:prstGeom prst="rect">
            <a:avLst/>
          </a:prstGeom>
        </p:spPr>
      </p:pic>
      <p:sp>
        <p:nvSpPr>
          <p:cNvPr id="2" name="Title 1">
            <a:extLst>
              <a:ext uri="{FF2B5EF4-FFF2-40B4-BE49-F238E27FC236}">
                <a16:creationId xmlns:a16="http://schemas.microsoft.com/office/drawing/2014/main" id="{118F2799-6F31-ED2E-68F2-8D5DC2CC946A}"/>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Challenges to RPA Implementation</a:t>
            </a:r>
          </a:p>
        </p:txBody>
      </p:sp>
      <p:sp>
        <p:nvSpPr>
          <p:cNvPr id="4" name="Content Placeholder 3">
            <a:extLst>
              <a:ext uri="{FF2B5EF4-FFF2-40B4-BE49-F238E27FC236}">
                <a16:creationId xmlns:a16="http://schemas.microsoft.com/office/drawing/2014/main" id="{3FD64D73-C09F-5058-214D-FDF8DC1FDE5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Resistance to Change</a:t>
            </a:r>
          </a:p>
          <a:p>
            <a:pPr marL="0" lvl="1" indent="0">
              <a:buNone/>
            </a:pPr>
            <a:r>
              <a:rPr lang="en-US" sz="1400"/>
              <a:t>Organizations often face pushback from employees when implementing RPA due to fear of job loss or disruption.</a:t>
            </a:r>
          </a:p>
          <a:p>
            <a:pPr marL="0" indent="0">
              <a:spcBef>
                <a:spcPts val="2500"/>
              </a:spcBef>
              <a:buNone/>
            </a:pPr>
            <a:r>
              <a:rPr lang="en-US" sz="1400" b="1"/>
              <a:t>Integration with Legacy Systems</a:t>
            </a:r>
          </a:p>
          <a:p>
            <a:pPr marL="0" lvl="1" indent="0">
              <a:buNone/>
            </a:pPr>
            <a:r>
              <a:rPr lang="en-US" sz="1400"/>
              <a:t>Integrating RPA with existing legacy systems can be challenging and may require significant technical adjustments.</a:t>
            </a:r>
          </a:p>
          <a:p>
            <a:pPr marL="0" indent="0">
              <a:spcBef>
                <a:spcPts val="2500"/>
              </a:spcBef>
              <a:buNone/>
            </a:pPr>
            <a:r>
              <a:rPr lang="en-US" sz="1400" b="1"/>
              <a:t>Data Security Concerns</a:t>
            </a:r>
          </a:p>
          <a:p>
            <a:pPr marL="0" lvl="1" indent="0">
              <a:buNone/>
            </a:pPr>
            <a:r>
              <a:rPr lang="en-US" sz="1400"/>
              <a:t>Ensuring data security is crucial during RPA implementation, as automation can expose sensitive information to vulnerabilities.</a:t>
            </a:r>
          </a:p>
        </p:txBody>
      </p:sp>
    </p:spTree>
    <p:extLst>
      <p:ext uri="{BB962C8B-B14F-4D97-AF65-F5344CB8AC3E}">
        <p14:creationId xmlns:p14="http://schemas.microsoft.com/office/powerpoint/2010/main" val="29876013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Thinking progress, searching for idea. Businessman in a black suite with gears (progress symbol) instead of head. From small to medium and big. Arrow pointing from one to another.">
            <a:extLst>
              <a:ext uri="{FF2B5EF4-FFF2-40B4-BE49-F238E27FC236}">
                <a16:creationId xmlns:a16="http://schemas.microsoft.com/office/drawing/2014/main" id="{BAD95A40-BF87-4AB5-9FE0-70E96B8C2C3A}"/>
              </a:ext>
            </a:extLst>
          </p:cNvPr>
          <p:cNvPicPr>
            <a:picLocks noGrp="1" noChangeAspect="1"/>
          </p:cNvPicPr>
          <p:nvPr>
            <p:ph sz="half" idx="1"/>
          </p:nvPr>
        </p:nvPicPr>
        <p:blipFill>
          <a:blip r:embed="rId3"/>
          <a:srcRect l="29332" r="22874" b="-1"/>
          <a:stretch/>
        </p:blipFill>
        <p:spPr>
          <a:xfrm>
            <a:off x="20" y="10"/>
            <a:ext cx="4910308" cy="6857990"/>
          </a:xfrm>
          <a:prstGeom prst="rect">
            <a:avLst/>
          </a:prstGeom>
        </p:spPr>
      </p:pic>
      <p:sp>
        <p:nvSpPr>
          <p:cNvPr id="2" name="Title 1">
            <a:extLst>
              <a:ext uri="{FF2B5EF4-FFF2-40B4-BE49-F238E27FC236}">
                <a16:creationId xmlns:a16="http://schemas.microsoft.com/office/drawing/2014/main" id="{55A2FE8E-960A-6B94-9338-8C8F17726C8B}"/>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Best Practices for RPA Success</a:t>
            </a:r>
          </a:p>
        </p:txBody>
      </p:sp>
      <p:sp>
        <p:nvSpPr>
          <p:cNvPr id="4" name="Content Placeholder 3">
            <a:extLst>
              <a:ext uri="{FF2B5EF4-FFF2-40B4-BE49-F238E27FC236}">
                <a16:creationId xmlns:a16="http://schemas.microsoft.com/office/drawing/2014/main" id="{856A028C-47E9-BFFB-7C6A-167275544C4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Process Selection</a:t>
            </a:r>
          </a:p>
          <a:p>
            <a:pPr marL="0" lvl="1" indent="0">
              <a:buNone/>
            </a:pPr>
            <a:r>
              <a:rPr lang="en-US" sz="1400"/>
              <a:t>Choosing the right processes for RPA is crucial to maximizing efficiency and achieving quick wins.</a:t>
            </a:r>
          </a:p>
          <a:p>
            <a:pPr marL="0" indent="0">
              <a:spcBef>
                <a:spcPts val="2500"/>
              </a:spcBef>
              <a:buNone/>
            </a:pPr>
            <a:r>
              <a:rPr lang="en-US" sz="1400" b="1"/>
              <a:t>Employee Training</a:t>
            </a:r>
          </a:p>
          <a:p>
            <a:pPr marL="0" lvl="1" indent="0">
              <a:buNone/>
            </a:pPr>
            <a:r>
              <a:rPr lang="en-US" sz="1400"/>
              <a:t>Investing in employee training ensures that team members are equipped with the skills needed to work alongside RPA technologies.</a:t>
            </a:r>
          </a:p>
          <a:p>
            <a:pPr marL="0" indent="0">
              <a:spcBef>
                <a:spcPts val="2500"/>
              </a:spcBef>
              <a:buNone/>
            </a:pPr>
            <a:r>
              <a:rPr lang="en-US" sz="1400" b="1"/>
              <a:t>Change Management Strategies</a:t>
            </a:r>
          </a:p>
          <a:p>
            <a:pPr marL="0" lvl="1" indent="0">
              <a:buNone/>
            </a:pPr>
            <a:r>
              <a:rPr lang="en-US" sz="1400"/>
              <a:t>Implementing change management strategies helps to manage the transition and address any resistance from employees.</a:t>
            </a:r>
          </a:p>
        </p:txBody>
      </p:sp>
    </p:spTree>
    <p:extLst>
      <p:ext uri="{BB962C8B-B14F-4D97-AF65-F5344CB8AC3E}">
        <p14:creationId xmlns:p14="http://schemas.microsoft.com/office/powerpoint/2010/main" val="3596611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I Artificial intelligence abstract neural network future technology internet of things big data">
            <a:extLst>
              <a:ext uri="{FF2B5EF4-FFF2-40B4-BE49-F238E27FC236}">
                <a16:creationId xmlns:a16="http://schemas.microsoft.com/office/drawing/2014/main" id="{89DADE1C-9DED-4078-876B-40DFF2DB3F49}"/>
              </a:ext>
            </a:extLst>
          </p:cNvPr>
          <p:cNvPicPr>
            <a:picLocks noGrp="1" noChangeAspect="1"/>
          </p:cNvPicPr>
          <p:nvPr>
            <p:ph sz="half" idx="1"/>
          </p:nvPr>
        </p:nvPicPr>
        <p:blipFill>
          <a:blip r:embed="rId3"/>
          <a:srcRect l="22678" r="23622"/>
          <a:stretch/>
        </p:blipFill>
        <p:spPr>
          <a:xfrm>
            <a:off x="20" y="10"/>
            <a:ext cx="4910308" cy="6857990"/>
          </a:xfrm>
          <a:prstGeom prst="rect">
            <a:avLst/>
          </a:prstGeom>
        </p:spPr>
      </p:pic>
      <p:sp>
        <p:nvSpPr>
          <p:cNvPr id="2" name="Title 1">
            <a:extLst>
              <a:ext uri="{FF2B5EF4-FFF2-40B4-BE49-F238E27FC236}">
                <a16:creationId xmlns:a16="http://schemas.microsoft.com/office/drawing/2014/main" id="{C7093B8E-1270-6D3F-5340-D6ACE9ED6DC7}"/>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Future of RPA</a:t>
            </a:r>
          </a:p>
        </p:txBody>
      </p:sp>
      <p:sp>
        <p:nvSpPr>
          <p:cNvPr id="4" name="Content Placeholder 3">
            <a:extLst>
              <a:ext uri="{FF2B5EF4-FFF2-40B4-BE49-F238E27FC236}">
                <a16:creationId xmlns:a16="http://schemas.microsoft.com/office/drawing/2014/main" id="{B5F3A5F6-1642-A936-ABAB-8E661A580A5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Integration with AI</a:t>
            </a:r>
          </a:p>
          <a:p>
            <a:pPr marL="0" lvl="1" indent="0">
              <a:buNone/>
            </a:pPr>
            <a:r>
              <a:rPr lang="en-US" sz="1400"/>
              <a:t>The future of RPA will see deeper integration with artificial intelligence, enabling smarter automation processes.</a:t>
            </a:r>
          </a:p>
          <a:p>
            <a:pPr marL="0" indent="0">
              <a:spcBef>
                <a:spcPts val="2500"/>
              </a:spcBef>
              <a:buNone/>
            </a:pPr>
            <a:r>
              <a:rPr lang="en-US" sz="1400" b="1"/>
              <a:t>Machine Learning Advancements</a:t>
            </a:r>
          </a:p>
          <a:p>
            <a:pPr marL="0" lvl="1" indent="0">
              <a:buNone/>
            </a:pPr>
            <a:r>
              <a:rPr lang="en-US" sz="1400"/>
              <a:t>With advancements in machine learning, RPA will enhance its decision-making capabilities and adaptability across various tasks.</a:t>
            </a:r>
          </a:p>
          <a:p>
            <a:pPr marL="0" indent="0">
              <a:spcBef>
                <a:spcPts val="2500"/>
              </a:spcBef>
              <a:buNone/>
            </a:pPr>
            <a:r>
              <a:rPr lang="en-US" sz="1400" b="1"/>
              <a:t>Broader Application Range</a:t>
            </a:r>
          </a:p>
          <a:p>
            <a:pPr marL="0" lvl="1" indent="0">
              <a:buNone/>
            </a:pPr>
            <a:r>
              <a:rPr lang="en-US" sz="1400"/>
              <a:t>The evolving RPA technology will broaden its application range, impacting diverse industries and sectors significantly.</a:t>
            </a:r>
          </a:p>
        </p:txBody>
      </p:sp>
    </p:spTree>
    <p:extLst>
      <p:ext uri="{BB962C8B-B14F-4D97-AF65-F5344CB8AC3E}">
        <p14:creationId xmlns:p14="http://schemas.microsoft.com/office/powerpoint/2010/main" val="24800666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Pressing check mark">
            <a:extLst>
              <a:ext uri="{FF2B5EF4-FFF2-40B4-BE49-F238E27FC236}">
                <a16:creationId xmlns:a16="http://schemas.microsoft.com/office/drawing/2014/main" id="{B6F7FCF6-3225-42B3-BA36-EA97AB350F1C}"/>
              </a:ext>
            </a:extLst>
          </p:cNvPr>
          <p:cNvPicPr>
            <a:picLocks noGrp="1" noChangeAspect="1"/>
          </p:cNvPicPr>
          <p:nvPr>
            <p:ph sz="half" idx="1"/>
          </p:nvPr>
        </p:nvPicPr>
        <p:blipFill>
          <a:blip r:embed="rId3"/>
          <a:srcRect l="33730" r="18299" b="2"/>
          <a:stretch/>
        </p:blipFill>
        <p:spPr>
          <a:xfrm>
            <a:off x="20" y="10"/>
            <a:ext cx="4910308" cy="6857990"/>
          </a:xfrm>
          <a:prstGeom prst="rect">
            <a:avLst/>
          </a:prstGeom>
        </p:spPr>
      </p:pic>
      <p:sp>
        <p:nvSpPr>
          <p:cNvPr id="2" name="Title 1">
            <a:extLst>
              <a:ext uri="{FF2B5EF4-FFF2-40B4-BE49-F238E27FC236}">
                <a16:creationId xmlns:a16="http://schemas.microsoft.com/office/drawing/2014/main" id="{8AFAC2B3-64B6-1BDF-078B-76A28DB361EF}"/>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Conclusion</a:t>
            </a:r>
          </a:p>
        </p:txBody>
      </p:sp>
      <p:sp>
        <p:nvSpPr>
          <p:cNvPr id="4" name="Content Placeholder 3">
            <a:extLst>
              <a:ext uri="{FF2B5EF4-FFF2-40B4-BE49-F238E27FC236}">
                <a16:creationId xmlns:a16="http://schemas.microsoft.com/office/drawing/2014/main" id="{FA50DC0A-E220-0BB8-6BAD-54EBC1A2CF6D}"/>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Improvements Across Industries</a:t>
            </a:r>
          </a:p>
          <a:p>
            <a:pPr marL="0" lvl="1" indent="0">
              <a:buNone/>
            </a:pPr>
            <a:r>
              <a:rPr lang="en-US" sz="1400"/>
              <a:t>RPA implementations have shown significant performance improvements in sectors like finance, healthcare, and manufacturing.</a:t>
            </a:r>
          </a:p>
          <a:p>
            <a:pPr marL="0" indent="0">
              <a:spcBef>
                <a:spcPts val="2500"/>
              </a:spcBef>
              <a:buNone/>
            </a:pPr>
            <a:r>
              <a:rPr lang="en-US" sz="1400" b="1"/>
              <a:t>Adopting Best Practices</a:t>
            </a:r>
          </a:p>
          <a:p>
            <a:pPr marL="0" lvl="1" indent="0">
              <a:buNone/>
            </a:pPr>
            <a:r>
              <a:rPr lang="en-US" sz="1400"/>
              <a:t>Organizations that adopt best practices in RPA implementation experience higher success rates and better outcomes.</a:t>
            </a:r>
          </a:p>
          <a:p>
            <a:pPr marL="0" indent="0">
              <a:spcBef>
                <a:spcPts val="2500"/>
              </a:spcBef>
              <a:buNone/>
            </a:pPr>
            <a:r>
              <a:rPr lang="en-US" sz="1400" b="1"/>
              <a:t>Driving Efficiency and Innovation</a:t>
            </a:r>
          </a:p>
          <a:p>
            <a:pPr marL="0" lvl="1" indent="0">
              <a:buNone/>
            </a:pPr>
            <a:r>
              <a:rPr lang="en-US" sz="1400"/>
              <a:t>Harnessing RPA's full potential drives operational efficiency and fosters innovation in business processes.</a:t>
            </a:r>
          </a:p>
        </p:txBody>
      </p:sp>
    </p:spTree>
    <p:extLst>
      <p:ext uri="{BB962C8B-B14F-4D97-AF65-F5344CB8AC3E}">
        <p14:creationId xmlns:p14="http://schemas.microsoft.com/office/powerpoint/2010/main" val="4845796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2146</Words>
  <Application>Microsoft Office PowerPoint</Application>
  <PresentationFormat>Widescreen</PresentationFormat>
  <Paragraphs>210</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Arial</vt:lpstr>
      <vt:lpstr>Neue Haas Grotesk Text Pro</vt:lpstr>
      <vt:lpstr>VanillaVTI</vt:lpstr>
      <vt:lpstr>Successful Real-World Cases in RPA</vt:lpstr>
      <vt:lpstr>Presentation Agenda</vt:lpstr>
      <vt:lpstr>Introduction to RPA</vt:lpstr>
      <vt:lpstr>Benefits of RPA</vt:lpstr>
      <vt:lpstr>Industry Applications of RPA</vt:lpstr>
      <vt:lpstr>Finance Industry Example</vt:lpstr>
      <vt:lpstr>Case Study: UiPath with Deloitte</vt:lpstr>
      <vt:lpstr>Healthcare Industry Example</vt:lpstr>
      <vt:lpstr>Case Study: Anthem</vt:lpstr>
      <vt:lpstr>Retail Industry Example</vt:lpstr>
      <vt:lpstr>Case Study: Walmart</vt:lpstr>
      <vt:lpstr>Manufacturing Industry Example</vt:lpstr>
      <vt:lpstr>Case Study: Siemens</vt:lpstr>
      <vt:lpstr>Telecommunications Industry Example</vt:lpstr>
      <vt:lpstr>Case Study: Vodafone</vt:lpstr>
      <vt:lpstr>Insurance Industry Example</vt:lpstr>
      <vt:lpstr>Case Study: AXA</vt:lpstr>
      <vt:lpstr>RPA in Government</vt:lpstr>
      <vt:lpstr>Case Study: The UK Government</vt:lpstr>
      <vt:lpstr>Challenges to RPA Implementation</vt:lpstr>
      <vt:lpstr>Best Practices for RPA Success</vt:lpstr>
      <vt:lpstr>Future of RPA</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Teik Toe Teoh</dc:creator>
  <cp:lastModifiedBy>Teik Toe Teoh</cp:lastModifiedBy>
  <cp:revision>1</cp:revision>
  <dcterms:created xsi:type="dcterms:W3CDTF">2025-01-27T05:26:27Z</dcterms:created>
  <dcterms:modified xsi:type="dcterms:W3CDTF">2025-01-27T05:29:01Z</dcterms:modified>
</cp:coreProperties>
</file>