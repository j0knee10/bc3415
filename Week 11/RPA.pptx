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9" r:id="rId5"/>
    <p:sldId id="1466" r:id="rId6"/>
    <p:sldId id="1421" r:id="rId7"/>
    <p:sldId id="1142" r:id="rId8"/>
    <p:sldId id="487" r:id="rId9"/>
    <p:sldId id="1330" r:id="rId10"/>
    <p:sldId id="1404" r:id="rId11"/>
    <p:sldId id="256" r:id="rId12"/>
    <p:sldId id="262" r:id="rId13"/>
    <p:sldId id="1147" r:id="rId14"/>
    <p:sldId id="264" r:id="rId15"/>
    <p:sldId id="1406" r:id="rId16"/>
    <p:sldId id="150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ik Toe Teoh" userId="f2f2b67b8c6b3629" providerId="LiveId" clId="{700E7E45-C51F-4430-B5CB-D9F738E0FC4F}"/>
    <pc:docChg chg="delSld modSld">
      <pc:chgData name="Teik Toe Teoh" userId="f2f2b67b8c6b3629" providerId="LiveId" clId="{700E7E45-C51F-4430-B5CB-D9F738E0FC4F}" dt="2026-08-03T10:28:33.874" v="14" actId="47"/>
      <pc:docMkLst>
        <pc:docMk/>
      </pc:docMkLst>
      <pc:sldChg chg="del">
        <pc:chgData name="Teik Toe Teoh" userId="f2f2b67b8c6b3629" providerId="LiveId" clId="{700E7E45-C51F-4430-B5CB-D9F738E0FC4F}" dt="2026-08-03T10:28:26.470" v="13" actId="47"/>
        <pc:sldMkLst>
          <pc:docMk/>
          <pc:sldMk cId="0" sldId="266"/>
        </pc:sldMkLst>
      </pc:sldChg>
      <pc:sldChg chg="del">
        <pc:chgData name="Teik Toe Teoh" userId="f2f2b67b8c6b3629" providerId="LiveId" clId="{700E7E45-C51F-4430-B5CB-D9F738E0FC4F}" dt="2026-08-03T10:27:55.774" v="12" actId="47"/>
        <pc:sldMkLst>
          <pc:docMk/>
          <pc:sldMk cId="1244706815" sldId="1146"/>
        </pc:sldMkLst>
      </pc:sldChg>
      <pc:sldChg chg="del">
        <pc:chgData name="Teik Toe Teoh" userId="f2f2b67b8c6b3629" providerId="LiveId" clId="{700E7E45-C51F-4430-B5CB-D9F738E0FC4F}" dt="2026-08-03T10:28:33.874" v="14" actId="47"/>
        <pc:sldMkLst>
          <pc:docMk/>
          <pc:sldMk cId="2681643515" sldId="11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8/3/2026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A36F0-6936-4FC0-97A3-A708269A923B}" type="datetimeFigureOut">
              <a:rPr lang="en-SG" smtClean="0"/>
              <a:t>3/8/2026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20A2B-4052-4FBD-8A9E-819616F498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495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06902"/>
            <a:ext cx="82296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906713"/>
            <a:ext cx="82296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4994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94758"/>
            <a:ext cx="4040188" cy="362841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854994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494758"/>
            <a:ext cx="4041775" cy="362841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88618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88620"/>
            <a:ext cx="5111750" cy="539820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25147"/>
            <a:ext cx="3008313" cy="406167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89196"/>
            <a:ext cx="8229600" cy="387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NTU_PP_slide_Footer_sized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7909"/>
            <a:ext cx="9144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v/s!Aik2a4x7tvLyi6xHOOZ2Mrv7Sa1LBA?e=fLNNy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8vyutaQgZ8?si=RX470cHY4eHFhqSg" TargetMode="External"/><Relationship Id="rId2" Type="http://schemas.openxmlformats.org/officeDocument/2006/relationships/hyperlink" Target="https://youtu.be/9URSbTOE4YI?si=MQli4rNKDdE1egb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5i5CJsFnEj0?si=Bqv7r0ONIdnYp958" TargetMode="External"/><Relationship Id="rId5" Type="http://schemas.openxmlformats.org/officeDocument/2006/relationships/hyperlink" Target="https://youtu.be/5i5CJsFnEj0?si=k2QEKuaKPcbAV5d3" TargetMode="External"/><Relationship Id="rId4" Type="http://schemas.openxmlformats.org/officeDocument/2006/relationships/hyperlink" Target="https://youtu.be/5i5CJsFnEj0?si=JoM1o_Bm6RFpWiH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986" y="2603322"/>
            <a:ext cx="2015285" cy="1651356"/>
          </a:xfrm>
        </p:spPr>
        <p:txBody>
          <a:bodyPr>
            <a:normAutofit/>
          </a:bodyPr>
          <a:lstStyle/>
          <a:p>
            <a:r>
              <a:rPr lang="en-US" sz="2250" b="1">
                <a:solidFill>
                  <a:schemeClr val="bg1"/>
                </a:solidFill>
                <a:cs typeface="Arial"/>
              </a:rPr>
              <a:t>Robotic Process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5709" y="4977700"/>
            <a:ext cx="3756540" cy="1265293"/>
          </a:xfrm>
        </p:spPr>
        <p:txBody>
          <a:bodyPr>
            <a:normAutofit/>
          </a:bodyPr>
          <a:lstStyle/>
          <a:p>
            <a:pPr algn="l"/>
            <a:r>
              <a:rPr lang="en-US" sz="1125">
                <a:solidFill>
                  <a:srgbClr val="FFFFFF"/>
                </a:solidFill>
                <a:cs typeface="Arial"/>
              </a:rPr>
              <a:t>Teoh Teik Toe</a:t>
            </a:r>
          </a:p>
          <a:p>
            <a:pPr algn="l"/>
            <a:r>
              <a:rPr lang="en-US" sz="1125">
                <a:solidFill>
                  <a:srgbClr val="FFFFFF"/>
                </a:solidFill>
                <a:cs typeface="Arial"/>
              </a:rPr>
              <a:t>ITOM/NBS</a:t>
            </a:r>
          </a:p>
          <a:p>
            <a:pPr algn="l"/>
            <a:r>
              <a:rPr lang="en-US" sz="1125" i="1">
                <a:solidFill>
                  <a:srgbClr val="FFFFFF"/>
                </a:solidFill>
                <a:cs typeface="Arial"/>
              </a:rPr>
              <a:t>ttteoh@ntu.edu.sg</a:t>
            </a:r>
          </a:p>
          <a:p>
            <a:pPr algn="l"/>
            <a:r>
              <a:rPr lang="en-US" sz="1125" i="1">
                <a:solidFill>
                  <a:srgbClr val="FFFFFF"/>
                </a:solidFill>
                <a:cs typeface="Arial"/>
              </a:rPr>
              <a:t>97905202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46B2-5B71-C38C-CE2A-3664A517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124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SG" sz="3600" dirty="0"/>
              <a:t>Recording:</a:t>
            </a:r>
            <a:br>
              <a:rPr lang="en-SG" sz="3600" dirty="0"/>
            </a:br>
            <a:br>
              <a:rPr lang="en-SG" sz="3600" dirty="0"/>
            </a:br>
            <a:r>
              <a:rPr lang="en-SG" sz="3600" dirty="0">
                <a:hlinkClick r:id="rId2"/>
              </a:rPr>
              <a:t>https://1drv.ms/v/s!Aik2a4x7tvLyi6xHOOZ2Mrv7Sa1LBA?e=fLNNyf</a:t>
            </a:r>
            <a:br>
              <a:rPr lang="en-SG" sz="3600" dirty="0"/>
            </a:br>
            <a:br>
              <a:rPr lang="en-SG" sz="3600" dirty="0"/>
            </a:br>
            <a:r>
              <a:rPr lang="en-SG" sz="3600" dirty="0"/>
              <a:t>Pg 22,25,29,41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9137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57ED-E0C3-2DD3-C7F1-9D262AAB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206" y="1194179"/>
            <a:ext cx="7997588" cy="3597891"/>
          </a:xfrm>
        </p:spPr>
        <p:txBody>
          <a:bodyPr>
            <a:noAutofit/>
          </a:bodyPr>
          <a:lstStyle/>
          <a:p>
            <a:r>
              <a:rPr lang="en-SG" sz="2000" dirty="0" err="1"/>
              <a:t>Youtube</a:t>
            </a:r>
            <a:r>
              <a:rPr lang="en-SG" sz="2000" dirty="0"/>
              <a:t>: </a:t>
            </a:r>
            <a:br>
              <a:rPr lang="en-SG" sz="2000" dirty="0"/>
            </a:br>
            <a:r>
              <a:rPr lang="en-SG" sz="2400" dirty="0"/>
              <a:t>RPA: </a:t>
            </a:r>
            <a:r>
              <a:rPr lang="en-SG" sz="2400" dirty="0">
                <a:hlinkClick r:id="rId2"/>
              </a:rPr>
              <a:t>https://youtu.be/9URSbTOE4YI?si=MQli4rNKDdE1egbs</a:t>
            </a:r>
            <a:br>
              <a:rPr lang="en-SG" sz="2400" dirty="0"/>
            </a:br>
            <a:r>
              <a:rPr lang="en-SG" sz="2400" dirty="0"/>
              <a:t>UiPath</a:t>
            </a:r>
            <a:br>
              <a:rPr lang="en-SG" sz="2400" dirty="0"/>
            </a:br>
            <a:r>
              <a:rPr lang="en-SG" sz="2400" dirty="0">
                <a:hlinkClick r:id="rId3"/>
              </a:rPr>
              <a:t>https://youtu.be/S8vyutaQgZ8?si=RX470cHY4eHFhqSg</a:t>
            </a:r>
            <a:br>
              <a:rPr lang="en-SG" sz="2400" dirty="0"/>
            </a:br>
            <a:r>
              <a:rPr lang="en-SG" sz="2400" dirty="0">
                <a:hlinkClick r:id="rId4"/>
              </a:rPr>
              <a:t>https://youtu.be/5i5CJsFnEj0?si=JoM1o_Bm6RFpWiHG</a:t>
            </a:r>
            <a:br>
              <a:rPr lang="en-SG" sz="2400" dirty="0"/>
            </a:br>
            <a:r>
              <a:rPr lang="en-SG" sz="2400" dirty="0">
                <a:hlinkClick r:id="rId5"/>
              </a:rPr>
              <a:t>https://youtu.be/5i5CJsFnEj0?si=k2QEKuaKPcbAV5d3</a:t>
            </a:r>
            <a:br>
              <a:rPr lang="en-SG" sz="2400" dirty="0"/>
            </a:br>
            <a:r>
              <a:rPr lang="en-SG" sz="2400" dirty="0">
                <a:hlinkClick r:id="rId6"/>
              </a:rPr>
              <a:t>https://youtu.be/5i5CJsFnEj0?si=Bqv7r0ONIdnYp958</a:t>
            </a:r>
            <a:br>
              <a:rPr lang="en-SG" sz="2400" dirty="0"/>
            </a:br>
            <a:r>
              <a:rPr lang="en-SG" sz="2400" dirty="0"/>
              <a:t>https://youtu.be/IejDU8U63mY?si=J1sREYIMo2wjiVm-</a:t>
            </a:r>
            <a:br>
              <a:rPr lang="en-SG" sz="2400" dirty="0"/>
            </a:br>
            <a:r>
              <a:rPr lang="en-SG" sz="2400" dirty="0"/>
              <a:t>login https://youtu.be/pYdnE6dc_Bk?si=erejKRgnD2DY3Q6t</a:t>
            </a:r>
            <a:br>
              <a:rPr lang="en-SG" sz="1100" dirty="0"/>
            </a:br>
            <a:br>
              <a:rPr lang="en-SG" sz="2000" dirty="0"/>
            </a:br>
            <a:br>
              <a:rPr lang="en-SG" sz="2000" dirty="0"/>
            </a:br>
            <a:r>
              <a:rPr lang="en-SG" sz="2000" dirty="0"/>
              <a:t>Recording:</a:t>
            </a:r>
            <a:br>
              <a:rPr lang="en-SG" sz="2000" dirty="0"/>
            </a:br>
            <a:r>
              <a:rPr lang="en-SG" sz="2000" dirty="0"/>
              <a:t>https://1drv.ms/v/s!Aik2a4x7tvLyi6xHOOZ2Mrv7Sa1LBA?e=fLNNyf</a:t>
            </a:r>
          </a:p>
        </p:txBody>
      </p:sp>
    </p:spTree>
    <p:extLst>
      <p:ext uri="{BB962C8B-B14F-4D97-AF65-F5344CB8AC3E}">
        <p14:creationId xmlns:p14="http://schemas.microsoft.com/office/powerpoint/2010/main" val="249508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1B42-7F09-4B1B-94A1-17815000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Objective</a:t>
            </a:r>
            <a:endParaRPr lang="en-SG" sz="3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B94B3-CDD7-47B7-BC13-FFAF2FF9F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/>
              <a:t>To know about Robotic Process Automation and able to use </a:t>
            </a:r>
            <a:r>
              <a:rPr lang="en-US" sz="2700" err="1"/>
              <a:t>UiPath</a:t>
            </a:r>
            <a:r>
              <a:rPr lang="en-US" sz="2700"/>
              <a:t> to automate processes</a:t>
            </a:r>
          </a:p>
          <a:p>
            <a:r>
              <a:rPr lang="en-US" sz="2800"/>
              <a:t>To create a simple automated process using </a:t>
            </a:r>
            <a:r>
              <a:rPr lang="en-US" sz="2800" err="1"/>
              <a:t>UiPath</a:t>
            </a:r>
            <a:endParaRPr lang="en-US" sz="2800"/>
          </a:p>
          <a:p>
            <a:r>
              <a:rPr lang="en-US" sz="2800"/>
              <a:t>To develop RPA programming skill</a:t>
            </a:r>
          </a:p>
          <a:p>
            <a:pPr marL="0" indent="0">
              <a:buNone/>
            </a:pPr>
            <a:endParaRPr lang="en-US" sz="2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5CC4A-6613-4D6E-96EF-E01BBB1C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74C2B-2832-4980-AD6C-83DC3FD51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445" y="260475"/>
            <a:ext cx="1561671" cy="129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4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59AF-7B41-4BE6-9D0A-B08791B3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5E510-2CAB-4EC1-B4DD-E98EF098F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/>
              <a:t>Intro to RPA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UiPath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Exercise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Discussion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Review</a:t>
            </a:r>
          </a:p>
          <a:p>
            <a:pPr marL="257175" lvl="1" indent="0">
              <a:buNone/>
            </a:pP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FE184-1626-4BC5-90DF-CE0A10CF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13D7C-C40C-9D96-22F0-9B61429F0F7F}"/>
              </a:ext>
            </a:extLst>
          </p:cNvPr>
          <p:cNvSpPr txBox="1"/>
          <p:nvPr/>
        </p:nvSpPr>
        <p:spPr>
          <a:xfrm>
            <a:off x="592931" y="4719519"/>
            <a:ext cx="76080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Examples of </a:t>
            </a:r>
            <a:r>
              <a:rPr lang="en-SG" sz="2800" dirty="0" err="1"/>
              <a:t>RPA:https</a:t>
            </a:r>
            <a:r>
              <a:rPr lang="en-SG" sz="2800" dirty="0"/>
              <a:t>://mindmajix.com/30-rpa-examples</a:t>
            </a:r>
          </a:p>
        </p:txBody>
      </p:sp>
    </p:spTree>
    <p:extLst>
      <p:ext uri="{BB962C8B-B14F-4D97-AF65-F5344CB8AC3E}">
        <p14:creationId xmlns:p14="http://schemas.microsoft.com/office/powerpoint/2010/main" val="790950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16E6-3C3F-47A0-A7EA-5C3C43C89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53" y="66091"/>
            <a:ext cx="8229600" cy="1143000"/>
          </a:xfrm>
        </p:spPr>
        <p:txBody>
          <a:bodyPr/>
          <a:lstStyle/>
          <a:p>
            <a:r>
              <a:rPr lang="en-US" dirty="0"/>
              <a:t>Why RPA</a:t>
            </a:r>
            <a:endParaRPr lang="en-SG" dirty="0"/>
          </a:p>
        </p:txBody>
      </p:sp>
      <p:pic>
        <p:nvPicPr>
          <p:cNvPr id="1026" name="Picture 2" descr="Why RPA (Robotic Process Automation) - TAE">
            <a:extLst>
              <a:ext uri="{FF2B5EF4-FFF2-40B4-BE49-F238E27FC236}">
                <a16:creationId xmlns:a16="http://schemas.microsoft.com/office/drawing/2014/main" id="{E3F4ADDD-AD22-3A0F-1F06-0566EF811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90" y="1397654"/>
            <a:ext cx="6720728" cy="45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16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at Is Robotics Process Automation - DridhOn">
            <a:extLst>
              <a:ext uri="{FF2B5EF4-FFF2-40B4-BE49-F238E27FC236}">
                <a16:creationId xmlns:a16="http://schemas.microsoft.com/office/drawing/2014/main" id="{98020ACA-A592-74DB-17D3-7B9C63413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8275"/>
            <a:ext cx="762000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14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/>
          <a:srcRect b="10336"/>
          <a:stretch/>
        </p:blipFill>
        <p:spPr>
          <a:xfrm>
            <a:off x="1139047" y="1698551"/>
            <a:ext cx="6861953" cy="3460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/>
          <a:srcRect b="9436"/>
          <a:stretch/>
        </p:blipFill>
        <p:spPr>
          <a:xfrm>
            <a:off x="1143000" y="1500187"/>
            <a:ext cx="6772799" cy="3450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9122-82E4-4AD0-A81E-E31493B2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can be automated with RPA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A809B-EF5B-43A6-9601-7F1F6647A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Word</a:t>
            </a:r>
          </a:p>
          <a:p>
            <a:r>
              <a:rPr lang="en-US"/>
              <a:t>Email</a:t>
            </a:r>
          </a:p>
          <a:p>
            <a:r>
              <a:rPr lang="en-US"/>
              <a:t>Excel</a:t>
            </a:r>
          </a:p>
          <a:p>
            <a:r>
              <a:rPr lang="en-US"/>
              <a:t>Browser</a:t>
            </a:r>
          </a:p>
          <a:p>
            <a:r>
              <a:rPr lang="en-US"/>
              <a:t>Other application such as Calculator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409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/>
          <a:srcRect b="8579"/>
          <a:stretch/>
        </p:blipFill>
        <p:spPr>
          <a:xfrm>
            <a:off x="1329681" y="1594036"/>
            <a:ext cx="6484639" cy="33347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A5BB-EC75-109F-A0AA-95E928857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RPA Studio Web </a:t>
            </a:r>
            <a:r>
              <a:rPr lang="en-SG"/>
              <a:t>(UiPath) https://cloud.uipath.com/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66F7A-A83E-7537-9C8C-5CA1882F8A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817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7118-1AD8-732A-27B8-D9A821A6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50" y="256333"/>
            <a:ext cx="8229600" cy="1143000"/>
          </a:xfrm>
        </p:spPr>
        <p:txBody>
          <a:bodyPr/>
          <a:lstStyle/>
          <a:p>
            <a:r>
              <a:rPr lang="en-US" dirty="0"/>
              <a:t>Browser, click and type into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9CDAA-7C1B-2F88-62E2-5CC9C0BB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31" y="1342843"/>
            <a:ext cx="4942537" cy="50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6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C2C9DE-C811-4406-9A96-B5F84A419B8F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33E57A-4545-40EE-B846-546C23E605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42CDD3-2BBD-46F1-929C-F92F3B4EA860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11902</TotalTime>
  <Words>245</Words>
  <Application>Microsoft Office PowerPoint</Application>
  <PresentationFormat>On-screen Show (4:3)</PresentationFormat>
  <Paragraphs>32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Robotic Process Automation</vt:lpstr>
      <vt:lpstr>Recording:  https://1drv.ms/v/s!Aik2a4x7tvLyi6xHOOZ2Mrv7Sa1LBA?e=fLNNyf  Pg 22,25,29,41</vt:lpstr>
      <vt:lpstr>Youtube:  RPA: https://youtu.be/9URSbTOE4YI?si=MQli4rNKDdE1egbs UiPath https://youtu.be/S8vyutaQgZ8?si=RX470cHY4eHFhqSg https://youtu.be/5i5CJsFnEj0?si=JoM1o_Bm6RFpWiHG https://youtu.be/5i5CJsFnEj0?si=k2QEKuaKPcbAV5d3 https://youtu.be/5i5CJsFnEj0?si=Bqv7r0ONIdnYp958 https://youtu.be/IejDU8U63mY?si=J1sREYIMo2wjiVm- login https://youtu.be/pYdnE6dc_Bk?si=erejKRgnD2DY3Q6t   Recording: https://1drv.ms/v/s!Aik2a4x7tvLyi6xHOOZ2Mrv7Sa1LBA?e=fLNNyf</vt:lpstr>
      <vt:lpstr>Objective</vt:lpstr>
      <vt:lpstr>Agenda</vt:lpstr>
      <vt:lpstr>Why RPA</vt:lpstr>
      <vt:lpstr>PowerPoint Presentation</vt:lpstr>
      <vt:lpstr>PowerPoint Presentation</vt:lpstr>
      <vt:lpstr>PowerPoint Presentation</vt:lpstr>
      <vt:lpstr>Processes can be automated with RPA</vt:lpstr>
      <vt:lpstr>PowerPoint Presentation</vt:lpstr>
      <vt:lpstr>RPA Studio Web (UiPath) https://cloud.uipath.com/</vt:lpstr>
      <vt:lpstr>Browser, click and type into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goes on  these lines</dc:title>
  <dc:creator>User</dc:creator>
  <cp:lastModifiedBy>Teik Toe Teoh</cp:lastModifiedBy>
  <cp:revision>5</cp:revision>
  <dcterms:created xsi:type="dcterms:W3CDTF">2017-05-14T01:29:56Z</dcterms:created>
  <dcterms:modified xsi:type="dcterms:W3CDTF">2026-08-03T10:28:36Z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