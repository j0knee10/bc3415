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93" r:id="rId2"/>
    <p:sldId id="1542" r:id="rId3"/>
    <p:sldId id="1639" r:id="rId4"/>
    <p:sldId id="936" r:id="rId5"/>
    <p:sldId id="937" r:id="rId6"/>
    <p:sldId id="938" r:id="rId7"/>
    <p:sldId id="1240" r:id="rId8"/>
    <p:sldId id="1239" r:id="rId9"/>
    <p:sldId id="1238" r:id="rId10"/>
    <p:sldId id="1620" r:id="rId11"/>
    <p:sldId id="1621" r:id="rId12"/>
    <p:sldId id="939" r:id="rId13"/>
    <p:sldId id="1139" r:id="rId14"/>
    <p:sldId id="1686" r:id="rId15"/>
    <p:sldId id="1459" r:id="rId16"/>
    <p:sldId id="1461" r:id="rId17"/>
    <p:sldId id="1150" r:id="rId18"/>
    <p:sldId id="1151" r:id="rId19"/>
    <p:sldId id="1152" r:id="rId20"/>
    <p:sldId id="1153" r:id="rId21"/>
    <p:sldId id="1154" r:id="rId22"/>
    <p:sldId id="1685" r:id="rId23"/>
    <p:sldId id="1458" r:id="rId24"/>
    <p:sldId id="415" r:id="rId25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C0000"/>
    <a:srgbClr val="006600"/>
    <a:srgbClr val="000000"/>
    <a:srgbClr val="333399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1" autoAdjust="0"/>
    <p:restoredTop sz="93839" autoAdjust="0"/>
  </p:normalViewPr>
  <p:slideViewPr>
    <p:cSldViewPr snapToGrid="0" snapToObjects="1">
      <p:cViewPr varScale="1">
        <p:scale>
          <a:sx n="102" d="100"/>
          <a:sy n="102" d="100"/>
        </p:scale>
        <p:origin x="344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1/20/25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B5001-6E60-4037-9159-F285FC778C2B}" type="datetimeFigureOut">
              <a:rPr lang="en-SG" smtClean="0"/>
              <a:t>20/1/25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B83A7-F285-412D-B103-2E9669EF52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457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BDBA1-88AF-47D0-B79E-EE53099471F7}" type="datetime1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DA96F-2DE9-45FC-839E-036870554EF3}" type="datetime1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1"/>
            <a:ext cx="109728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109728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0BF30-DAB5-4C88-A967-957AAF167741}" type="datetime1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08DD4-B289-46B0-86E0-C1627B7A89A2}" type="datetime1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499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94757"/>
            <a:ext cx="5386917" cy="3628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85499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94757"/>
            <a:ext cx="5389033" cy="3628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8934B-8AFF-4B90-9DF7-DCAB404B934F}" type="datetime1">
              <a:rPr lang="en-US" smtClean="0"/>
              <a:t>1/20/25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6B406-4348-4880-9903-8BA48519B665}" type="datetime1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CBF21-6D50-4AA0-A649-6D36D68931DB}" type="datetime1">
              <a:rPr lang="en-US" smtClean="0"/>
              <a:t>1/20/25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88618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788619"/>
            <a:ext cx="6815667" cy="53982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25147"/>
            <a:ext cx="4011084" cy="406167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BA342-A206-47D8-9222-75FBA8E9B375}" type="datetime1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9A6C-8D7B-47B4-832E-E2FE3725626A}" type="datetime1">
              <a:rPr lang="en-US" smtClean="0"/>
              <a:t>1/20/25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838200" y="1182208"/>
            <a:ext cx="10515600" cy="4651375"/>
          </a:xfrm>
          <a:prstGeom prst="rect">
            <a:avLst/>
          </a:prstGeom>
        </p:spPr>
        <p:txBody>
          <a:bodyPr/>
          <a:lstStyle>
            <a:lvl1pPr marL="357179" indent="-357179">
              <a:lnSpc>
                <a:spcPct val="120000"/>
              </a:lnSpc>
              <a:defRPr b="1">
                <a:solidFill>
                  <a:srgbClr val="F582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843" indent="-447663"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63610" indent="-358766">
              <a:lnSpc>
                <a:spcPct val="12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20787" indent="-357179">
              <a:lnSpc>
                <a:spcPct val="120000"/>
              </a:lnSpc>
              <a:buFont typeface="Arial" panose="020B0604020202020204" pitchFamily="34" charset="0"/>
              <a:buChar char="─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F806888-76DF-41DF-8145-862D5B113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016" y="15220"/>
            <a:ext cx="9262929" cy="116166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Title here</a:t>
            </a:r>
            <a:endParaRPr lang="en-US" dirty="0"/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C4F5FC2D-E2E7-C647-303E-3D298929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412531"/>
            <a:ext cx="2844800" cy="365125"/>
          </a:xfrm>
        </p:spPr>
        <p:txBody>
          <a:bodyPr/>
          <a:lstStyle/>
          <a:p>
            <a:fld id="{3BD59A6C-8D7B-47B4-832E-E2FE3725626A}" type="datetime1">
              <a:rPr lang="en-US" smtClean="0"/>
              <a:t>1/20/25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64992235-F410-0EBE-DC61-7F0799766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12531"/>
            <a:ext cx="3860800" cy="365125"/>
          </a:xfrm>
        </p:spPr>
        <p:txBody>
          <a:bodyPr/>
          <a:lstStyle/>
          <a:p>
            <a:r>
              <a:rPr lang="en-US" dirty="0"/>
              <a:t>2022 © GU Zhan (Sam)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289574EB-D966-A65E-44DB-BA3AB1AE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12531"/>
            <a:ext cx="2844800" cy="365125"/>
          </a:xfrm>
        </p:spPr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3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1A4B97-A86E-4551-AFBA-DFB5DB45FA4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6322866"/>
            <a:ext cx="12192000" cy="5429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363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89195"/>
            <a:ext cx="10972800" cy="4345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1253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0821E2D-D061-4954-9BF3-2D3035D488D0}" type="datetime1">
              <a:rPr lang="en-US" smtClean="0"/>
              <a:t>1/20/25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1253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r>
              <a:rPr lang="en-US" dirty="0"/>
              <a:t>2022 © GU Zhan (Sam)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1253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oss_Quinlan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B03E05-D6F5-4F28-A93D-244BFF97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" y="0"/>
            <a:ext cx="1219009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6808E5-D977-4319-A439-832CEACA0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130426"/>
            <a:ext cx="6062870" cy="147002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Decision Tree</a:t>
            </a:r>
            <a:endParaRPr lang="en-SG" sz="40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F493-8DE0-4D8F-88C3-655F2715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396948" cy="1752600"/>
          </a:xfrm>
        </p:spPr>
        <p:txBody>
          <a:bodyPr>
            <a:normAutofit/>
          </a:bodyPr>
          <a:lstStyle/>
          <a:p>
            <a:pPr algn="l"/>
            <a:r>
              <a:rPr lang="en-SG" sz="2000" dirty="0">
                <a:solidFill>
                  <a:schemeClr val="bg2"/>
                </a:solidFill>
              </a:rPr>
              <a:t>GU Zhan (Sam)</a:t>
            </a:r>
          </a:p>
          <a:p>
            <a:pPr algn="l"/>
            <a:endParaRPr lang="en-SG" sz="2000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5EF5D-E4B5-4C59-AF6C-22862742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</a:t>
            </a:fld>
            <a:endParaRPr lang="en-US"/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FE82F0BD-6A7F-DC41-A6DA-1A9226F6C34B}"/>
              </a:ext>
            </a:extLst>
          </p:cNvPr>
          <p:cNvSpPr/>
          <p:nvPr/>
        </p:nvSpPr>
        <p:spPr>
          <a:xfrm>
            <a:off x="11437920" y="6492960"/>
            <a:ext cx="753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7969934F-6242-4119-9720-DC389ECA917B}" type="slidenum">
              <a:rPr lang="en-SG" sz="1000" b="0" strike="noStrike" spc="-1">
                <a:solidFill>
                  <a:srgbClr val="8B8B8B"/>
                </a:solidFill>
                <a:latin typeface="Arial"/>
              </a:rPr>
              <a:t>1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08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6" name="Picture 14" descr="Image result for frui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6032" y="4345829"/>
            <a:ext cx="3277202" cy="220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 Tree</a:t>
            </a:r>
            <a:r>
              <a:rPr lang="en-SG" dirty="0"/>
              <a:t> for fruit classification</a:t>
            </a:r>
            <a:endParaRPr lang="en-GB" sz="3100" cap="al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2</a:t>
            </a:fld>
            <a:endParaRPr lang="en-SG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453010" y="1189886"/>
            <a:ext cx="5303561" cy="5375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Tree shows the alternative </a:t>
            </a:r>
            <a:r>
              <a:rPr lang="en-GB" dirty="0">
                <a:solidFill>
                  <a:schemeClr val="accent1"/>
                </a:solidFill>
              </a:rPr>
              <a:t>courses of action </a:t>
            </a:r>
            <a:r>
              <a:rPr lang="en-GB" dirty="0"/>
              <a:t>or</a:t>
            </a:r>
            <a:r>
              <a:rPr lang="en-GB" dirty="0">
                <a:solidFill>
                  <a:schemeClr val="accent1"/>
                </a:solidFill>
              </a:rPr>
              <a:t> casual consequences </a:t>
            </a:r>
            <a:r>
              <a:rPr lang="en-GB" dirty="0"/>
              <a:t>for a particular decision.</a:t>
            </a:r>
          </a:p>
          <a:p>
            <a:r>
              <a:rPr lang="en-GB" dirty="0"/>
              <a:t>Condition/Rule based domain knowledge</a:t>
            </a:r>
          </a:p>
          <a:p>
            <a:r>
              <a:rPr lang="en-GB" dirty="0"/>
              <a:t>A snapshot of the experts knowhow</a:t>
            </a:r>
          </a:p>
        </p:txBody>
      </p:sp>
      <p:sp>
        <p:nvSpPr>
          <p:cNvPr id="55" name="Rounded Rectangle 54"/>
          <p:cNvSpPr/>
          <p:nvPr/>
        </p:nvSpPr>
        <p:spPr bwMode="auto">
          <a:xfrm>
            <a:off x="607092" y="3329851"/>
            <a:ext cx="762000" cy="306467"/>
          </a:xfrm>
          <a:prstGeom prst="round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accent1"/>
                </a:solidFill>
                <a:latin typeface="Arial" charset="0"/>
                <a:ea typeface="宋体" pitchFamily="2" charset="-122"/>
              </a:rPr>
              <a:t>Smell?</a:t>
            </a:r>
            <a:endParaRPr lang="en-SG" sz="1200" b="1" dirty="0">
              <a:solidFill>
                <a:schemeClr val="accent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7" name="Rounded Rectangle 66"/>
          <p:cNvSpPr/>
          <p:nvPr/>
        </p:nvSpPr>
        <p:spPr bwMode="auto">
          <a:xfrm>
            <a:off x="1959429" y="2391216"/>
            <a:ext cx="804330" cy="306467"/>
          </a:xfrm>
          <a:prstGeom prst="round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accent1"/>
                </a:solidFill>
                <a:latin typeface="Arial" charset="0"/>
                <a:ea typeface="宋体" pitchFamily="2" charset="-122"/>
              </a:rPr>
              <a:t>Shape?</a:t>
            </a:r>
            <a:endParaRPr lang="en-SG" sz="1200" b="1" dirty="0">
              <a:solidFill>
                <a:schemeClr val="accent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8" name="Rounded Rectangle 67"/>
          <p:cNvSpPr/>
          <p:nvPr/>
        </p:nvSpPr>
        <p:spPr bwMode="auto">
          <a:xfrm>
            <a:off x="3569677" y="1821469"/>
            <a:ext cx="762000" cy="306467"/>
          </a:xfrm>
          <a:prstGeom prst="round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accent1"/>
                </a:solidFill>
                <a:latin typeface="Arial" charset="0"/>
                <a:ea typeface="宋体" pitchFamily="2" charset="-122"/>
              </a:rPr>
              <a:t>Color?</a:t>
            </a:r>
            <a:endParaRPr lang="en-SG" sz="1200" b="1" dirty="0">
              <a:solidFill>
                <a:schemeClr val="accent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9" name="Rounded Rectangle 68"/>
          <p:cNvSpPr/>
          <p:nvPr/>
        </p:nvSpPr>
        <p:spPr bwMode="auto">
          <a:xfrm>
            <a:off x="1959429" y="4301609"/>
            <a:ext cx="804330" cy="306467"/>
          </a:xfrm>
          <a:prstGeom prst="round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accent1"/>
                </a:solidFill>
                <a:latin typeface="Arial" charset="0"/>
                <a:ea typeface="宋体" pitchFamily="2" charset="-122"/>
              </a:rPr>
              <a:t>Shape?</a:t>
            </a:r>
            <a:endParaRPr lang="en-SG" sz="1200" b="1" dirty="0">
              <a:solidFill>
                <a:schemeClr val="accent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0" name="Rounded Rectangle 69"/>
          <p:cNvSpPr/>
          <p:nvPr/>
        </p:nvSpPr>
        <p:spPr bwMode="auto">
          <a:xfrm>
            <a:off x="3581715" y="4709274"/>
            <a:ext cx="762000" cy="510778"/>
          </a:xfrm>
          <a:prstGeom prst="round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accent1"/>
                </a:solidFill>
                <a:latin typeface="Arial" charset="0"/>
                <a:ea typeface="宋体" pitchFamily="2" charset="-122"/>
              </a:rPr>
              <a:t>Peels easily?</a:t>
            </a:r>
            <a:endParaRPr lang="en-SG" sz="1200" b="1" dirty="0">
              <a:solidFill>
                <a:schemeClr val="accent1"/>
              </a:solidFill>
              <a:latin typeface="Arial" charset="0"/>
              <a:ea typeface="宋体" pitchFamily="2" charset="-122"/>
            </a:endParaRPr>
          </a:p>
        </p:txBody>
      </p:sp>
      <p:cxnSp>
        <p:nvCxnSpPr>
          <p:cNvPr id="71" name="Straight Arrow Connector 70"/>
          <p:cNvCxnSpPr>
            <a:stCxn id="55" idx="3"/>
            <a:endCxn id="67" idx="1"/>
          </p:cNvCxnSpPr>
          <p:nvPr/>
        </p:nvCxnSpPr>
        <p:spPr bwMode="auto">
          <a:xfrm flipV="1">
            <a:off x="1369092" y="2544450"/>
            <a:ext cx="590337" cy="93863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72" name="TextBox 71"/>
          <p:cNvSpPr txBox="1"/>
          <p:nvPr/>
        </p:nvSpPr>
        <p:spPr>
          <a:xfrm>
            <a:off x="1309535" y="2842834"/>
            <a:ext cx="655949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acidic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cxnSp>
        <p:nvCxnSpPr>
          <p:cNvPr id="74" name="Straight Arrow Connector 73"/>
          <p:cNvCxnSpPr>
            <a:stCxn id="67" idx="3"/>
            <a:endCxn id="85" idx="2"/>
          </p:cNvCxnSpPr>
          <p:nvPr/>
        </p:nvCxnSpPr>
        <p:spPr bwMode="auto">
          <a:xfrm>
            <a:off x="2763759" y="2544450"/>
            <a:ext cx="817956" cy="58490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5" name="Straight Arrow Connector 74"/>
          <p:cNvCxnSpPr>
            <a:stCxn id="55" idx="3"/>
            <a:endCxn id="69" idx="1"/>
          </p:cNvCxnSpPr>
          <p:nvPr/>
        </p:nvCxnSpPr>
        <p:spPr bwMode="auto">
          <a:xfrm>
            <a:off x="1369092" y="3483085"/>
            <a:ext cx="590337" cy="97175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6" name="Straight Arrow Connector 75"/>
          <p:cNvCxnSpPr>
            <a:stCxn id="67" idx="3"/>
            <a:endCxn id="68" idx="1"/>
          </p:cNvCxnSpPr>
          <p:nvPr/>
        </p:nvCxnSpPr>
        <p:spPr bwMode="auto">
          <a:xfrm flipV="1">
            <a:off x="2763759" y="1974703"/>
            <a:ext cx="805918" cy="56974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7" name="Straight Arrow Connector 76"/>
          <p:cNvCxnSpPr>
            <a:stCxn id="68" idx="3"/>
            <a:endCxn id="83" idx="2"/>
          </p:cNvCxnSpPr>
          <p:nvPr/>
        </p:nvCxnSpPr>
        <p:spPr bwMode="auto">
          <a:xfrm flipV="1">
            <a:off x="4331677" y="1384643"/>
            <a:ext cx="665244" cy="59006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8" name="Straight Arrow Connector 77"/>
          <p:cNvCxnSpPr>
            <a:stCxn id="68" idx="3"/>
            <a:endCxn id="84" idx="2"/>
          </p:cNvCxnSpPr>
          <p:nvPr/>
        </p:nvCxnSpPr>
        <p:spPr bwMode="auto">
          <a:xfrm>
            <a:off x="4331677" y="1974703"/>
            <a:ext cx="670901" cy="50273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79" name="TextBox 78"/>
          <p:cNvSpPr txBox="1"/>
          <p:nvPr/>
        </p:nvSpPr>
        <p:spPr>
          <a:xfrm>
            <a:off x="2848058" y="2107665"/>
            <a:ext cx="625492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round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919302" y="2698402"/>
            <a:ext cx="506870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oval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375884" y="1539866"/>
            <a:ext cx="667170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yellow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381400" y="2077828"/>
            <a:ext cx="736099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orange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83" name="Oval 82"/>
          <p:cNvSpPr/>
          <p:nvPr/>
        </p:nvSpPr>
        <p:spPr bwMode="auto">
          <a:xfrm>
            <a:off x="4996921" y="1189886"/>
            <a:ext cx="1310207" cy="38951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宋体" pitchFamily="2" charset="-122"/>
              </a:rPr>
              <a:t>grapefruit</a:t>
            </a:r>
          </a:p>
        </p:txBody>
      </p:sp>
      <p:sp>
        <p:nvSpPr>
          <p:cNvPr id="84" name="Oval 83"/>
          <p:cNvSpPr/>
          <p:nvPr/>
        </p:nvSpPr>
        <p:spPr bwMode="auto">
          <a:xfrm>
            <a:off x="5002578" y="2282678"/>
            <a:ext cx="1304550" cy="38951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宋体" pitchFamily="2" charset="-122"/>
              </a:rPr>
              <a:t>orange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5" name="Oval 84"/>
          <p:cNvSpPr/>
          <p:nvPr/>
        </p:nvSpPr>
        <p:spPr bwMode="auto">
          <a:xfrm>
            <a:off x="3581715" y="2934597"/>
            <a:ext cx="1311335" cy="38951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kumquat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cxnSp>
        <p:nvCxnSpPr>
          <p:cNvPr id="86" name="Straight Arrow Connector 85"/>
          <p:cNvCxnSpPr>
            <a:stCxn id="69" idx="3"/>
            <a:endCxn id="90" idx="2"/>
          </p:cNvCxnSpPr>
          <p:nvPr/>
        </p:nvCxnSpPr>
        <p:spPr bwMode="auto">
          <a:xfrm flipV="1">
            <a:off x="2763759" y="3841318"/>
            <a:ext cx="822935" cy="61352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87" name="TextBox 86"/>
          <p:cNvSpPr txBox="1"/>
          <p:nvPr/>
        </p:nvSpPr>
        <p:spPr>
          <a:xfrm>
            <a:off x="2866171" y="3980194"/>
            <a:ext cx="625492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round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cxnSp>
        <p:nvCxnSpPr>
          <p:cNvPr id="88" name="Straight Arrow Connector 87"/>
          <p:cNvCxnSpPr>
            <a:stCxn id="69" idx="3"/>
            <a:endCxn id="70" idx="1"/>
          </p:cNvCxnSpPr>
          <p:nvPr/>
        </p:nvCxnSpPr>
        <p:spPr bwMode="auto">
          <a:xfrm>
            <a:off x="2763759" y="4454843"/>
            <a:ext cx="817956" cy="50982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89" name="TextBox 88"/>
          <p:cNvSpPr txBox="1"/>
          <p:nvPr/>
        </p:nvSpPr>
        <p:spPr>
          <a:xfrm>
            <a:off x="2807221" y="4573145"/>
            <a:ext cx="71618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oval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90" name="Oval 89"/>
          <p:cNvSpPr/>
          <p:nvPr/>
        </p:nvSpPr>
        <p:spPr bwMode="auto">
          <a:xfrm>
            <a:off x="3586694" y="3646561"/>
            <a:ext cx="1311132" cy="38951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宋体" pitchFamily="2" charset="-122"/>
              </a:rPr>
              <a:t>pple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1" name="Oval 90"/>
          <p:cNvSpPr/>
          <p:nvPr/>
        </p:nvSpPr>
        <p:spPr bwMode="auto">
          <a:xfrm>
            <a:off x="5055337" y="4261002"/>
            <a:ext cx="1304550" cy="38951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pear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cxnSp>
        <p:nvCxnSpPr>
          <p:cNvPr id="92" name="Straight Arrow Connector 91"/>
          <p:cNvCxnSpPr>
            <a:stCxn id="70" idx="3"/>
            <a:endCxn id="93" idx="2"/>
          </p:cNvCxnSpPr>
          <p:nvPr/>
        </p:nvCxnSpPr>
        <p:spPr bwMode="auto">
          <a:xfrm>
            <a:off x="4343715" y="4964663"/>
            <a:ext cx="705965" cy="5838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3" name="Oval 92"/>
          <p:cNvSpPr/>
          <p:nvPr/>
        </p:nvSpPr>
        <p:spPr bwMode="auto">
          <a:xfrm>
            <a:off x="5049680" y="5353794"/>
            <a:ext cx="1310207" cy="389513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banana</a:t>
            </a:r>
            <a:endParaRPr lang="en-SG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宋体" pitchFamily="2" charset="-122"/>
            </a:endParaRPr>
          </a:p>
        </p:txBody>
      </p:sp>
      <p:cxnSp>
        <p:nvCxnSpPr>
          <p:cNvPr id="94" name="Straight Arrow Connector 93"/>
          <p:cNvCxnSpPr>
            <a:stCxn id="70" idx="3"/>
            <a:endCxn id="91" idx="2"/>
          </p:cNvCxnSpPr>
          <p:nvPr/>
        </p:nvCxnSpPr>
        <p:spPr bwMode="auto">
          <a:xfrm flipV="1">
            <a:off x="4343715" y="4455759"/>
            <a:ext cx="711622" cy="50890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5" name="TextBox 94"/>
          <p:cNvSpPr txBox="1"/>
          <p:nvPr/>
        </p:nvSpPr>
        <p:spPr>
          <a:xfrm>
            <a:off x="4538453" y="4553963"/>
            <a:ext cx="380232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no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4494454" y="5140311"/>
            <a:ext cx="439544" cy="276999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yes</a:t>
            </a:r>
            <a:endParaRPr lang="en-SG" sz="1200" b="1" dirty="0">
              <a:solidFill>
                <a:schemeClr val="accent1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252901" y="3830797"/>
            <a:ext cx="71618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sweet</a:t>
            </a:r>
            <a:endParaRPr lang="en-SG" sz="1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56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3000"/>
                            </p:stCondLst>
                            <p:childTnLst>
                              <p:par>
                                <p:cTn id="1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5" grpId="0" animBg="1"/>
      <p:bldP spid="67" grpId="0" animBg="1"/>
      <p:bldP spid="68" grpId="0" animBg="1"/>
      <p:bldP spid="69" grpId="0" animBg="1"/>
      <p:bldP spid="70" grpId="0" animBg="1"/>
      <p:bldP spid="72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7" grpId="0" animBg="1"/>
      <p:bldP spid="89" grpId="0" animBg="1"/>
      <p:bldP spid="90" grpId="0" animBg="1"/>
      <p:bldP spid="91" grpId="0" animBg="1"/>
      <p:bldP spid="93" grpId="0" animBg="1"/>
      <p:bldP spid="95" grpId="0" animBg="1"/>
      <p:bldP spid="96" grpId="0" animBg="1"/>
      <p:bldP spid="1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Decision Tree?</a:t>
            </a:r>
            <a:endParaRPr lang="en-GB" cap="all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821486"/>
            <a:ext cx="10515600" cy="1897703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Decision Tree (DT)</a:t>
            </a:r>
            <a:r>
              <a:rPr lang="en-US" sz="3200" b="0" dirty="0">
                <a:solidFill>
                  <a:schemeClr val="accent2"/>
                </a:solidFill>
              </a:rPr>
              <a:t> </a:t>
            </a:r>
            <a:r>
              <a:rPr lang="en-US" sz="3200" b="0" dirty="0">
                <a:solidFill>
                  <a:srgbClr val="212529"/>
                </a:solidFill>
              </a:rPr>
              <a:t>is a knowledge discovery method (supervised learning) used for classification and regression. The goal is to create a model (knowledge/rules) that predicts the value of a target variable by learning decision tree/rules inferred from the data features, through statistical calculation.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3</a:t>
            </a:fld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C3C28-42E8-1D42-BB8D-E4A74E76492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5220" y="2572339"/>
            <a:ext cx="6387575" cy="4022624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F78713-7CA0-0749-BB73-28F318D96CD5}"/>
              </a:ext>
            </a:extLst>
          </p:cNvPr>
          <p:cNvSpPr/>
          <p:nvPr/>
        </p:nvSpPr>
        <p:spPr>
          <a:xfrm>
            <a:off x="2509179" y="4065235"/>
            <a:ext cx="853440" cy="125995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E19343A-C3C9-304E-B96D-7816C513BD2D}"/>
              </a:ext>
            </a:extLst>
          </p:cNvPr>
          <p:cNvSpPr/>
          <p:nvPr/>
        </p:nvSpPr>
        <p:spPr>
          <a:xfrm>
            <a:off x="2519339" y="2893358"/>
            <a:ext cx="853440" cy="114678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548936-993F-1E49-9B95-E3FCE7836A94}"/>
              </a:ext>
            </a:extLst>
          </p:cNvPr>
          <p:cNvSpPr/>
          <p:nvPr/>
        </p:nvSpPr>
        <p:spPr>
          <a:xfrm>
            <a:off x="2509179" y="5356577"/>
            <a:ext cx="853440" cy="115824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1035D1-471B-4349-A6ED-2D7AA2769066}"/>
              </a:ext>
            </a:extLst>
          </p:cNvPr>
          <p:cNvSpPr/>
          <p:nvPr/>
        </p:nvSpPr>
        <p:spPr>
          <a:xfrm>
            <a:off x="4729139" y="4065234"/>
            <a:ext cx="629920" cy="50764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ADC9998-B358-654F-8458-8FE81E54457D}"/>
              </a:ext>
            </a:extLst>
          </p:cNvPr>
          <p:cNvSpPr/>
          <p:nvPr/>
        </p:nvSpPr>
        <p:spPr>
          <a:xfrm>
            <a:off x="4729139" y="4603466"/>
            <a:ext cx="629920" cy="72172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EDC999-9C35-B945-A684-CF62A4182AFB}"/>
              </a:ext>
            </a:extLst>
          </p:cNvPr>
          <p:cNvCxnSpPr/>
          <p:nvPr/>
        </p:nvCxnSpPr>
        <p:spPr>
          <a:xfrm flipV="1">
            <a:off x="3362619" y="4359246"/>
            <a:ext cx="1366520" cy="353564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157AE1-ABC5-3B41-8D9C-D802C1709B83}"/>
              </a:ext>
            </a:extLst>
          </p:cNvPr>
          <p:cNvCxnSpPr/>
          <p:nvPr/>
        </p:nvCxnSpPr>
        <p:spPr>
          <a:xfrm>
            <a:off x="3362619" y="4712811"/>
            <a:ext cx="1366520" cy="263979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119296-DD5C-114F-90DD-7F8E4F6FEC45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5359059" y="4308896"/>
            <a:ext cx="1569720" cy="10158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566514-27BB-C549-ABE4-C92D73FA70FF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5359059" y="4964327"/>
            <a:ext cx="1569720" cy="1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766308D-A3C1-984F-9DA0-34A202EE8646}"/>
              </a:ext>
            </a:extLst>
          </p:cNvPr>
          <p:cNvSpPr/>
          <p:nvPr/>
        </p:nvSpPr>
        <p:spPr>
          <a:xfrm>
            <a:off x="6928779" y="4044916"/>
            <a:ext cx="457200" cy="5279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E7ED444-1F33-AD4F-AB2E-A0974E547F18}"/>
              </a:ext>
            </a:extLst>
          </p:cNvPr>
          <p:cNvSpPr/>
          <p:nvPr/>
        </p:nvSpPr>
        <p:spPr>
          <a:xfrm>
            <a:off x="6928779" y="4603467"/>
            <a:ext cx="457200" cy="72172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287B30A-3CBD-6642-9BAC-17E62D375BF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26446" y="2797848"/>
            <a:ext cx="2656172" cy="37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32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Rule Induction using Decision Tree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1182207"/>
            <a:ext cx="10515600" cy="531067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Banks receive many loan applications that has to be assessed for approval.</a:t>
            </a:r>
          </a:p>
          <a:p>
            <a:r>
              <a:rPr lang="en-US" dirty="0"/>
              <a:t>Each application consists of many factors such as </a:t>
            </a:r>
            <a:r>
              <a:rPr lang="en-US" dirty="0">
                <a:solidFill>
                  <a:schemeClr val="accent1"/>
                </a:solidFill>
              </a:rPr>
              <a:t>Age, Job status, Housing, Credit history</a:t>
            </a:r>
            <a:r>
              <a:rPr lang="en-US" dirty="0"/>
              <a:t>.</a:t>
            </a:r>
          </a:p>
          <a:p>
            <a:r>
              <a:rPr lang="en-US" dirty="0"/>
              <a:t>Some applications are approved, others are not; Some debtors default, others don’t.</a:t>
            </a:r>
          </a:p>
          <a:p>
            <a:r>
              <a:rPr lang="en-US" dirty="0"/>
              <a:t>Banks dislike defaulters. Banks want to approve only applicants who are unlikely to default.</a:t>
            </a:r>
          </a:p>
          <a:p>
            <a:r>
              <a:rPr lang="en-US" dirty="0"/>
              <a:t>Bank’s task is to predict if a new applicant will default or not.</a:t>
            </a:r>
          </a:p>
          <a:p>
            <a:r>
              <a:rPr lang="en-US" dirty="0"/>
              <a:t>This a classification problem: </a:t>
            </a:r>
            <a:r>
              <a:rPr lang="en-US" dirty="0">
                <a:solidFill>
                  <a:schemeClr val="accent1"/>
                </a:solidFill>
              </a:rPr>
              <a:t>Approve</a:t>
            </a:r>
            <a:r>
              <a:rPr lang="en-US" dirty="0"/>
              <a:t> projected non defaulter or </a:t>
            </a:r>
            <a:r>
              <a:rPr lang="en-US" dirty="0">
                <a:solidFill>
                  <a:schemeClr val="accent1"/>
                </a:solidFill>
              </a:rPr>
              <a:t>Reject</a:t>
            </a:r>
            <a:r>
              <a:rPr lang="en-US" dirty="0"/>
              <a:t> projected defaulter during loan application.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4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Bank Loan Example – Business Background</a:t>
            </a:r>
          </a:p>
        </p:txBody>
      </p:sp>
    </p:spTree>
    <p:extLst>
      <p:ext uri="{BB962C8B-B14F-4D97-AF65-F5344CB8AC3E}">
        <p14:creationId xmlns:p14="http://schemas.microsoft.com/office/powerpoint/2010/main" val="333519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5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Bank Loan Example – Rule Induction Data Science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7444" y="1469258"/>
            <a:ext cx="6387575" cy="4022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1403" y="2962154"/>
            <a:ext cx="853440" cy="125995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51563" y="1790277"/>
            <a:ext cx="853440" cy="114678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ounded Rectangle 10"/>
          <p:cNvSpPr/>
          <p:nvPr/>
        </p:nvSpPr>
        <p:spPr>
          <a:xfrm>
            <a:off x="2741403" y="4253496"/>
            <a:ext cx="853440" cy="115824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ounded Rectangle 11"/>
          <p:cNvSpPr/>
          <p:nvPr/>
        </p:nvSpPr>
        <p:spPr>
          <a:xfrm>
            <a:off x="4961363" y="2962153"/>
            <a:ext cx="629920" cy="50764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ounded Rectangle 12"/>
          <p:cNvSpPr/>
          <p:nvPr/>
        </p:nvSpPr>
        <p:spPr>
          <a:xfrm>
            <a:off x="4961363" y="3500385"/>
            <a:ext cx="629920" cy="72172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594843" y="3256165"/>
            <a:ext cx="1366520" cy="353564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594843" y="3609730"/>
            <a:ext cx="1366520" cy="263979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3"/>
            <a:endCxn id="18" idx="1"/>
          </p:cNvCxnSpPr>
          <p:nvPr/>
        </p:nvCxnSpPr>
        <p:spPr>
          <a:xfrm flipV="1">
            <a:off x="5591283" y="3205815"/>
            <a:ext cx="1569720" cy="10158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3"/>
            <a:endCxn id="19" idx="1"/>
          </p:cNvCxnSpPr>
          <p:nvPr/>
        </p:nvCxnSpPr>
        <p:spPr>
          <a:xfrm>
            <a:off x="5591283" y="3861246"/>
            <a:ext cx="1569720" cy="1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61003" y="2941835"/>
            <a:ext cx="457200" cy="5279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ounded Rectangle 18"/>
          <p:cNvSpPr/>
          <p:nvPr/>
        </p:nvSpPr>
        <p:spPr>
          <a:xfrm>
            <a:off x="7161003" y="3500386"/>
            <a:ext cx="457200" cy="72172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558670" y="1694767"/>
            <a:ext cx="2656172" cy="37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9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6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Bank Loan Example – Decision Tree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7444" y="1469258"/>
            <a:ext cx="9248567" cy="452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2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3" y="1075766"/>
            <a:ext cx="5029200" cy="2686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7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Decision Tree Algorithm – Which feature to select for split?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3" y="1075766"/>
            <a:ext cx="5029200" cy="268605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838200" y="4443984"/>
            <a:ext cx="10515600" cy="1389599"/>
          </a:xfrm>
        </p:spPr>
        <p:txBody>
          <a:bodyPr>
            <a:normAutofit/>
          </a:bodyPr>
          <a:lstStyle/>
          <a:p>
            <a:r>
              <a:rPr lang="en-SG" dirty="0"/>
              <a:t>Which attribute is more intuitively for your to better/easier decision making?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0201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8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Decision Tree Algorithm – ID3 Information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dirty="0"/>
              <a:t>ID3 algorithm</a:t>
            </a:r>
          </a:p>
          <a:p>
            <a:r>
              <a:rPr lang="en-SG" dirty="0"/>
              <a:t>In decision tree learning, ID3 (Iterative </a:t>
            </a:r>
            <a:r>
              <a:rPr lang="en-SG" dirty="0" err="1"/>
              <a:t>Dichotomiser</a:t>
            </a:r>
            <a:r>
              <a:rPr lang="en-SG" dirty="0"/>
              <a:t> 3) is an algorithm invented by </a:t>
            </a:r>
            <a:r>
              <a:rPr lang="en-SG" dirty="0">
                <a:hlinkClick r:id="rId2"/>
              </a:rPr>
              <a:t>Ross Quinlan</a:t>
            </a:r>
            <a:r>
              <a:rPr lang="en-SG" dirty="0"/>
              <a:t> used to generate a decision tree from a dataset.</a:t>
            </a:r>
          </a:p>
          <a:p>
            <a:endParaRPr lang="en-SG" dirty="0"/>
          </a:p>
          <a:p>
            <a:r>
              <a:rPr lang="en-SG" dirty="0"/>
              <a:t>Information Gain formula: </a:t>
            </a:r>
          </a:p>
          <a:p>
            <a:pPr marL="357180" lvl="1" indent="0">
              <a:buNone/>
            </a:pPr>
            <a:r>
              <a:rPr lang="en-SG" sz="2000" dirty="0"/>
              <a:t>IG(</a:t>
            </a:r>
            <a:r>
              <a:rPr lang="en-SG" sz="2000" dirty="0" err="1"/>
              <a:t>DataSubsets|Attribute</a:t>
            </a:r>
            <a:r>
              <a:rPr lang="en-SG" sz="2000" dirty="0"/>
              <a:t>) = Imp(Initial Dataset) – Imp(</a:t>
            </a:r>
            <a:r>
              <a:rPr lang="en-SG" sz="2000" dirty="0" err="1"/>
              <a:t>DataSubsets|Attribute</a:t>
            </a:r>
            <a:r>
              <a:rPr lang="en-SG" sz="2000" dirty="0"/>
              <a:t>)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9523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4" y="5091505"/>
            <a:ext cx="7686675" cy="1123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9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Decision Tree Algorithm – Initial Dataset Impurity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7444" y="1210463"/>
            <a:ext cx="6387575" cy="402262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957803" y="3217651"/>
            <a:ext cx="858520" cy="16558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962883" y="1958409"/>
            <a:ext cx="853440" cy="4836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9" name="Rounded Rectangle 38"/>
          <p:cNvSpPr/>
          <p:nvPr/>
        </p:nvSpPr>
        <p:spPr>
          <a:xfrm>
            <a:off x="6957803" y="2457744"/>
            <a:ext cx="853440" cy="72287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4" name="Rounded Rectangle 43"/>
          <p:cNvSpPr/>
          <p:nvPr/>
        </p:nvSpPr>
        <p:spPr>
          <a:xfrm>
            <a:off x="6957803" y="4908031"/>
            <a:ext cx="853440" cy="22660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7" name="Rounded Rectangle 46"/>
          <p:cNvSpPr/>
          <p:nvPr/>
        </p:nvSpPr>
        <p:spPr>
          <a:xfrm>
            <a:off x="6950113" y="1491474"/>
            <a:ext cx="853440" cy="45098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2" name="Content Placeholder 2"/>
          <p:cNvSpPr>
            <a:spLocks noGrp="1"/>
          </p:cNvSpPr>
          <p:nvPr>
            <p:ph sz="quarter" idx="13"/>
          </p:nvPr>
        </p:nvSpPr>
        <p:spPr>
          <a:xfrm>
            <a:off x="1650130" y="5946529"/>
            <a:ext cx="8218492" cy="2969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Imp(Initial Dataset) = - 9/15 log(9/15) - 6/15 log(6/15) = 0.5288 + 0.442 = 0.971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687" y="1336945"/>
            <a:ext cx="1828800" cy="752475"/>
          </a:xfrm>
          <a:prstGeom prst="rect">
            <a:avLst/>
          </a:prstGeom>
        </p:spPr>
      </p:pic>
      <p:sp>
        <p:nvSpPr>
          <p:cNvPr id="60" name="Content Placeholder 2"/>
          <p:cNvSpPr txBox="1">
            <a:spLocks/>
          </p:cNvSpPr>
          <p:nvPr/>
        </p:nvSpPr>
        <p:spPr>
          <a:xfrm>
            <a:off x="9224120" y="2052844"/>
            <a:ext cx="1828800" cy="44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	6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-US" sz="16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(Yes) = 9/15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-US" sz="1600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(No) = 6/15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3405783"/>
            <a:ext cx="3104150" cy="201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6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39" grpId="0" animBg="1"/>
      <p:bldP spid="44" grpId="0" animBg="1"/>
      <p:bldP spid="47" grpId="0" animBg="1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10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Decision Tree Algorithm – Data Subset Impurity by attribute split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3" y="1075766"/>
            <a:ext cx="5029200" cy="2686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98" y="4004419"/>
            <a:ext cx="7686675" cy="1123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98" y="5128369"/>
            <a:ext cx="5248275" cy="1114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3" y="1081844"/>
            <a:ext cx="50292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2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3" y="857555"/>
            <a:ext cx="5029200" cy="2686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6544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11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420036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Decision Tree Algorithm – Which attribute for conditional split?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3" y="851477"/>
            <a:ext cx="5029200" cy="268605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sz="quarter" idx="13"/>
          </p:nvPr>
        </p:nvSpPr>
        <p:spPr>
          <a:xfrm>
            <a:off x="586277" y="3508992"/>
            <a:ext cx="2194250" cy="1463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Imp(Young) =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-2/5log(2/5)-3/5log(3/5)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0.5288 + 0.442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0.971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2780527" y="3508992"/>
            <a:ext cx="1296951" cy="1463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Imp(Middle)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0.971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077478" y="3508992"/>
            <a:ext cx="2194250" cy="1463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Imp(Old) 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-4/5log(4/5)-1/5log(1/5)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0.2575 + 0.4644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0.722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27624" y="3508992"/>
            <a:ext cx="2194250" cy="1463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Imp(False) 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-3/9log(3/9)-6/9log(6/9)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0.5283 + 0.39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0.918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9100237" y="3508992"/>
            <a:ext cx="2194250" cy="1463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Imp(True) =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-6/6log(6/6)-0/6log(0/6)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 + 0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586277" y="4972320"/>
            <a:ext cx="5281126" cy="1463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Imp(Age) = 5/15 x 0.971 + 5/15 x 0.971 + 5/15 x 0.722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0.3237 + 0.3237 + 0.2407 = 0.888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IG(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D|Age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= Imp(Initial Dataset) - Imp(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D|Age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0.971 – 0.888 = 0.083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427624" y="4978398"/>
            <a:ext cx="5281126" cy="1463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Imp(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Own_house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= 9/15 x 0.918 + 6/15 x 0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0.551 + 0 = 0.551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IG(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D|Own_house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= Imp(Initial Dataset) - Imp(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D|Own_house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0.971 – 0.551 = 0.42 </a:t>
            </a:r>
            <a:r>
              <a:rPr lang="en-AU" sz="1200" dirty="0"/>
              <a:t>   ☺ </a:t>
            </a:r>
            <a:r>
              <a:rPr lang="en-US" sz="1200" dirty="0"/>
              <a:t>The larger IG, the better attribute split !</a:t>
            </a:r>
          </a:p>
        </p:txBody>
      </p:sp>
    </p:spTree>
    <p:extLst>
      <p:ext uri="{BB962C8B-B14F-4D97-AF65-F5344CB8AC3E}">
        <p14:creationId xmlns:p14="http://schemas.microsoft.com/office/powerpoint/2010/main" val="158562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2" y="1309168"/>
            <a:ext cx="8800551" cy="49503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12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Data Mining Tool: Orange3 (python)</a:t>
            </a:r>
          </a:p>
        </p:txBody>
      </p:sp>
      <p:pic>
        <p:nvPicPr>
          <p:cNvPr id="7" name="Picture 2" descr="Image result for orang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753" y="3015523"/>
            <a:ext cx="2365534" cy="153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07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en-US" dirty="0"/>
              <a:t>Rule Induction using Decision Tree</a:t>
            </a:r>
            <a:endParaRPr lang="en-SG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13</a:t>
            </a:fld>
            <a:endParaRPr lang="en-SG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37444" y="644325"/>
            <a:ext cx="8180296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Orange3 Bank Loan Example – Decision Tree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7444" y="1469258"/>
            <a:ext cx="6387575" cy="40226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782247" y="2217203"/>
            <a:ext cx="853440" cy="2307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ounded Rectangle 10"/>
          <p:cNvSpPr/>
          <p:nvPr/>
        </p:nvSpPr>
        <p:spPr>
          <a:xfrm>
            <a:off x="3784965" y="2716539"/>
            <a:ext cx="853440" cy="72287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ounded Rectangle 11"/>
          <p:cNvSpPr/>
          <p:nvPr/>
        </p:nvSpPr>
        <p:spPr>
          <a:xfrm>
            <a:off x="4842618" y="2457328"/>
            <a:ext cx="853440" cy="2495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ounded Rectangle 12"/>
          <p:cNvSpPr/>
          <p:nvPr/>
        </p:nvSpPr>
        <p:spPr>
          <a:xfrm>
            <a:off x="4842618" y="3448936"/>
            <a:ext cx="853440" cy="12183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4" name="Straight Arrow Connector 13"/>
          <p:cNvCxnSpPr>
            <a:stCxn id="10" idx="3"/>
            <a:endCxn id="23" idx="1"/>
          </p:cNvCxnSpPr>
          <p:nvPr/>
        </p:nvCxnSpPr>
        <p:spPr>
          <a:xfrm>
            <a:off x="4635687" y="2332571"/>
            <a:ext cx="2327196" cy="1"/>
          </a:xfrm>
          <a:prstGeom prst="straightConnector1">
            <a:avLst/>
          </a:prstGeom>
          <a:ln w="38100"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0" idx="3"/>
            <a:endCxn id="31" idx="1"/>
          </p:cNvCxnSpPr>
          <p:nvPr/>
        </p:nvCxnSpPr>
        <p:spPr>
          <a:xfrm>
            <a:off x="4635687" y="4909579"/>
            <a:ext cx="2322116" cy="0"/>
          </a:xfrm>
          <a:prstGeom prst="straightConnector1">
            <a:avLst/>
          </a:prstGeom>
          <a:ln w="38100"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3"/>
            <a:endCxn id="18" idx="1"/>
          </p:cNvCxnSpPr>
          <p:nvPr/>
        </p:nvCxnSpPr>
        <p:spPr>
          <a:xfrm>
            <a:off x="5696058" y="2582086"/>
            <a:ext cx="1266825" cy="1"/>
          </a:xfrm>
          <a:prstGeom prst="straightConnector1">
            <a:avLst/>
          </a:prstGeom>
          <a:ln w="38100"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3"/>
            <a:endCxn id="19" idx="1"/>
          </p:cNvCxnSpPr>
          <p:nvPr/>
        </p:nvCxnSpPr>
        <p:spPr>
          <a:xfrm>
            <a:off x="5696058" y="4058093"/>
            <a:ext cx="1261745" cy="0"/>
          </a:xfrm>
          <a:prstGeom prst="straightConnector1">
            <a:avLst/>
          </a:prstGeom>
          <a:ln w="38100">
            <a:solidFill>
              <a:srgbClr val="FF0000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62883" y="2457329"/>
            <a:ext cx="853440" cy="2495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ounded Rectangle 18"/>
          <p:cNvSpPr/>
          <p:nvPr/>
        </p:nvSpPr>
        <p:spPr>
          <a:xfrm>
            <a:off x="6957803" y="3448936"/>
            <a:ext cx="858520" cy="12183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Rounded Rectangle 22"/>
          <p:cNvSpPr/>
          <p:nvPr/>
        </p:nvSpPr>
        <p:spPr>
          <a:xfrm>
            <a:off x="6962883" y="2217204"/>
            <a:ext cx="853440" cy="2307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Rounded Rectangle 29"/>
          <p:cNvSpPr/>
          <p:nvPr/>
        </p:nvSpPr>
        <p:spPr>
          <a:xfrm>
            <a:off x="3782247" y="4666132"/>
            <a:ext cx="853440" cy="4868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Rounded Rectangle 30"/>
          <p:cNvSpPr/>
          <p:nvPr/>
        </p:nvSpPr>
        <p:spPr>
          <a:xfrm>
            <a:off x="6957803" y="4666132"/>
            <a:ext cx="853440" cy="4868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84995" y="1790435"/>
            <a:ext cx="3783399" cy="3018022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6957803" y="2716539"/>
            <a:ext cx="853440" cy="72287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0" name="Straight Arrow Connector 39"/>
          <p:cNvCxnSpPr>
            <a:stCxn id="11" idx="3"/>
            <a:endCxn id="39" idx="1"/>
          </p:cNvCxnSpPr>
          <p:nvPr/>
        </p:nvCxnSpPr>
        <p:spPr>
          <a:xfrm>
            <a:off x="4638405" y="3077975"/>
            <a:ext cx="2319398" cy="0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784965" y="5166826"/>
            <a:ext cx="853440" cy="22660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Rounded Rectangle 43"/>
          <p:cNvSpPr/>
          <p:nvPr/>
        </p:nvSpPr>
        <p:spPr>
          <a:xfrm>
            <a:off x="6957803" y="5166826"/>
            <a:ext cx="853440" cy="22660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Arrow Connector 44"/>
          <p:cNvCxnSpPr>
            <a:stCxn id="43" idx="3"/>
            <a:endCxn id="44" idx="1"/>
          </p:cNvCxnSpPr>
          <p:nvPr/>
        </p:nvCxnSpPr>
        <p:spPr>
          <a:xfrm>
            <a:off x="4638405" y="5280131"/>
            <a:ext cx="2319398" cy="0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777275" y="1750269"/>
            <a:ext cx="853440" cy="45098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Rounded Rectangle 46"/>
          <p:cNvSpPr/>
          <p:nvPr/>
        </p:nvSpPr>
        <p:spPr>
          <a:xfrm>
            <a:off x="6950113" y="1750269"/>
            <a:ext cx="853440" cy="45098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8" name="Straight Arrow Connector 47"/>
          <p:cNvCxnSpPr>
            <a:stCxn id="46" idx="3"/>
            <a:endCxn id="47" idx="1"/>
          </p:cNvCxnSpPr>
          <p:nvPr/>
        </p:nvCxnSpPr>
        <p:spPr>
          <a:xfrm>
            <a:off x="4630715" y="1975763"/>
            <a:ext cx="2319398" cy="0"/>
          </a:xfrm>
          <a:prstGeom prst="straightConnector1">
            <a:avLst/>
          </a:prstGeom>
          <a:ln w="38100">
            <a:solidFill>
              <a:srgbClr val="173F7E">
                <a:alpha val="50196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ontent Placeholder 2"/>
          <p:cNvSpPr txBox="1">
            <a:spLocks/>
          </p:cNvSpPr>
          <p:nvPr/>
        </p:nvSpPr>
        <p:spPr>
          <a:xfrm>
            <a:off x="11517077" y="3499620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50" name="Content Placeholder 2"/>
          <p:cNvSpPr txBox="1">
            <a:spLocks/>
          </p:cNvSpPr>
          <p:nvPr/>
        </p:nvSpPr>
        <p:spPr>
          <a:xfrm>
            <a:off x="10169822" y="4693857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R2</a:t>
            </a:r>
          </a:p>
        </p:txBody>
      </p:sp>
      <p:sp>
        <p:nvSpPr>
          <p:cNvPr id="51" name="Content Placeholder 2"/>
          <p:cNvSpPr txBox="1">
            <a:spLocks/>
          </p:cNvSpPr>
          <p:nvPr/>
        </p:nvSpPr>
        <p:spPr>
          <a:xfrm>
            <a:off x="8841273" y="4693858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R3</a:t>
            </a: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7743203" y="3841499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53" name="Content Placeholder 2"/>
          <p:cNvSpPr txBox="1">
            <a:spLocks/>
          </p:cNvSpPr>
          <p:nvPr/>
        </p:nvSpPr>
        <p:spPr>
          <a:xfrm>
            <a:off x="7743203" y="2364498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7743203" y="2116849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R2</a:t>
            </a:r>
          </a:p>
        </p:txBody>
      </p:sp>
      <p:sp>
        <p:nvSpPr>
          <p:cNvPr id="55" name="Content Placeholder 2"/>
          <p:cNvSpPr txBox="1">
            <a:spLocks/>
          </p:cNvSpPr>
          <p:nvPr/>
        </p:nvSpPr>
        <p:spPr>
          <a:xfrm>
            <a:off x="7743203" y="4693857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R2</a:t>
            </a:r>
          </a:p>
        </p:txBody>
      </p:sp>
      <p:sp>
        <p:nvSpPr>
          <p:cNvPr id="56" name="Content Placeholder 2"/>
          <p:cNvSpPr txBox="1">
            <a:spLocks/>
          </p:cNvSpPr>
          <p:nvPr/>
        </p:nvSpPr>
        <p:spPr>
          <a:xfrm>
            <a:off x="7743203" y="5065136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R3</a:t>
            </a:r>
          </a:p>
        </p:txBody>
      </p:sp>
      <p:sp>
        <p:nvSpPr>
          <p:cNvPr id="57" name="Content Placeholder 2"/>
          <p:cNvSpPr txBox="1">
            <a:spLocks/>
          </p:cNvSpPr>
          <p:nvPr/>
        </p:nvSpPr>
        <p:spPr>
          <a:xfrm>
            <a:off x="7743203" y="2855349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R3</a:t>
            </a:r>
          </a:p>
        </p:txBody>
      </p:sp>
      <p:sp>
        <p:nvSpPr>
          <p:cNvPr id="58" name="Content Placeholder 2"/>
          <p:cNvSpPr txBox="1">
            <a:spLocks/>
          </p:cNvSpPr>
          <p:nvPr/>
        </p:nvSpPr>
        <p:spPr>
          <a:xfrm>
            <a:off x="7743203" y="1759565"/>
            <a:ext cx="541792" cy="431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383105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3" grpId="0" animBg="1"/>
      <p:bldP spid="30" grpId="0" animBg="1"/>
      <p:bldP spid="31" grpId="0" animBg="1"/>
      <p:bldP spid="39" grpId="0" animBg="1"/>
      <p:bldP spid="43" grpId="0" animBg="1"/>
      <p:bldP spid="44" grpId="0" animBg="1"/>
      <p:bldP spid="46" grpId="0" animBg="1"/>
      <p:bldP spid="47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6536880" y="6492960"/>
            <a:ext cx="481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00" b="0" strike="noStrike" spc="-1" dirty="0"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11437920" y="6492960"/>
            <a:ext cx="753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DCD33B6C-33F3-453A-B9A9-90A38083DB74}" type="slidenum">
              <a:rPr lang="en-SG" sz="1000" b="0" strike="noStrike" spc="-1">
                <a:solidFill>
                  <a:srgbClr val="8B8B8B"/>
                </a:solidFill>
                <a:latin typeface="Arial"/>
              </a:rPr>
              <a:t>14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278" name="CustomShape 3"/>
          <p:cNvSpPr/>
          <p:nvPr/>
        </p:nvSpPr>
        <p:spPr>
          <a:xfrm>
            <a:off x="984600" y="3078000"/>
            <a:ext cx="9881280" cy="127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4400" b="1" spc="-1" dirty="0">
                <a:solidFill>
                  <a:srgbClr val="173F7E"/>
                </a:solidFill>
                <a:latin typeface="Century Gothic"/>
              </a:rPr>
              <a:t>Identify Aliens</a:t>
            </a:r>
            <a:endParaRPr lang="en-US" sz="4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462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15"/>
          <p:cNvPicPr/>
          <p:nvPr/>
        </p:nvPicPr>
        <p:blipFill>
          <a:blip r:embed="rId2"/>
          <a:stretch/>
        </p:blipFill>
        <p:spPr>
          <a:xfrm>
            <a:off x="79920" y="961202"/>
            <a:ext cx="5302440" cy="5302440"/>
          </a:xfrm>
          <a:prstGeom prst="rect">
            <a:avLst/>
          </a:prstGeom>
          <a:ln>
            <a:noFill/>
          </a:ln>
        </p:spPr>
      </p:pic>
      <p:sp>
        <p:nvSpPr>
          <p:cNvPr id="344" name="CustomShape 1"/>
          <p:cNvSpPr/>
          <p:nvPr/>
        </p:nvSpPr>
        <p:spPr>
          <a:xfrm>
            <a:off x="838080" y="250920"/>
            <a:ext cx="10670760" cy="54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8000"/>
          </a:bodyPr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173F7E"/>
                </a:solidFill>
                <a:latin typeface="Century Gothic"/>
              </a:rPr>
              <a:t>Exercise: Solve Problem </a:t>
            </a:r>
            <a:r>
              <a:rPr lang="en-US" sz="3200" b="1" spc="-1" dirty="0">
                <a:solidFill>
                  <a:srgbClr val="173F7E"/>
                </a:solidFill>
                <a:latin typeface="Century Gothic"/>
              </a:rPr>
              <a:t>using Your Cognitive Functions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345" name="CustomShape 2"/>
          <p:cNvSpPr/>
          <p:nvPr/>
        </p:nvSpPr>
        <p:spPr>
          <a:xfrm>
            <a:off x="7394760" y="6424560"/>
            <a:ext cx="4114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00" b="0" strike="noStrike" spc="-1" dirty="0">
              <a:latin typeface="Arial"/>
            </a:endParaRPr>
          </a:p>
        </p:txBody>
      </p:sp>
      <p:sp>
        <p:nvSpPr>
          <p:cNvPr id="346" name="CustomShape 3"/>
          <p:cNvSpPr/>
          <p:nvPr/>
        </p:nvSpPr>
        <p:spPr>
          <a:xfrm>
            <a:off x="11437920" y="6492960"/>
            <a:ext cx="753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C2865A2B-CF58-4AFD-A790-BEEC8D60CB86}" type="slidenum">
              <a:rPr lang="en-SG" sz="1000" b="0" strike="noStrike" spc="-1">
                <a:solidFill>
                  <a:srgbClr val="8B8B8B"/>
                </a:solidFill>
                <a:latin typeface="Arial"/>
              </a:rPr>
              <a:t>15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347" name="CustomShape 4"/>
          <p:cNvSpPr/>
          <p:nvPr/>
        </p:nvSpPr>
        <p:spPr>
          <a:xfrm>
            <a:off x="533520" y="961202"/>
            <a:ext cx="4068360" cy="5302440"/>
          </a:xfrm>
          <a:prstGeom prst="rect">
            <a:avLst/>
          </a:prstGeom>
          <a:noFill/>
          <a:ln w="936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5"/>
          <p:cNvSpPr/>
          <p:nvPr/>
        </p:nvSpPr>
        <p:spPr>
          <a:xfrm>
            <a:off x="681480" y="1137602"/>
            <a:ext cx="4700880" cy="5126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55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Aliens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Non Aliens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Which one is alien?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  A          B          C          D          E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49" name="CustomShape 6"/>
          <p:cNvSpPr/>
          <p:nvPr/>
        </p:nvSpPr>
        <p:spPr>
          <a:xfrm>
            <a:off x="4602600" y="953642"/>
            <a:ext cx="7466760" cy="531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r>
              <a:rPr lang="en-SG" sz="24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Now, you have problem: spot the real alien.</a:t>
            </a:r>
          </a:p>
          <a:p>
            <a:pPr marL="571500" indent="-571500">
              <a:buFont typeface="+mj-lt"/>
              <a:buAutoNum type="arabicPeriod"/>
            </a:pPr>
            <a:endParaRPr lang="en-SG" sz="2400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arabi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What information/goal do you </a:t>
            </a:r>
            <a:r>
              <a:rPr lang="en-SG" sz="2400" b="1" i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perceive</a:t>
            </a: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from the left figure?</a:t>
            </a:r>
            <a:endParaRPr lang="en-SG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arabi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Any body feature of these creatures could you </a:t>
            </a:r>
            <a:r>
              <a:rPr lang="en-SG" sz="2400" b="1" i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recognise</a:t>
            </a: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?</a:t>
            </a:r>
            <a:endParaRPr lang="en-SG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arabi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What do you, as a problem solver, need to </a:t>
            </a:r>
            <a:r>
              <a:rPr lang="en-SG" sz="2400" b="1" i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learn</a:t>
            </a: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? Any common patterns of aliens?</a:t>
            </a:r>
            <a:endParaRPr lang="en-SG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arabi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When do you use your </a:t>
            </a:r>
            <a:r>
              <a:rPr lang="en-SG" sz="2400" b="1" i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reasoning</a:t>
            </a: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ability? What (inputs) do you need in order to reason? And what’s the output?</a:t>
            </a:r>
            <a:endParaRPr lang="en-SG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571500" indent="-571500">
              <a:buFont typeface="+mj-lt"/>
              <a:buAutoNum type="arabi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What </a:t>
            </a:r>
            <a:r>
              <a:rPr lang="en-SG" sz="2400" b="1" i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action</a:t>
            </a: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 do you need to take after reasoning?</a:t>
            </a:r>
          </a:p>
          <a:p>
            <a:pPr marL="571500" indent="-571500">
              <a:buFont typeface="+mj-lt"/>
              <a:buAutoNum type="arabicPeriod"/>
            </a:pPr>
            <a:endParaRPr lang="en-SG" sz="2400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6972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15"/>
          <p:cNvPicPr/>
          <p:nvPr/>
        </p:nvPicPr>
        <p:blipFill>
          <a:blip r:embed="rId2"/>
          <a:stretch/>
        </p:blipFill>
        <p:spPr>
          <a:xfrm>
            <a:off x="79920" y="961202"/>
            <a:ext cx="5302440" cy="5302440"/>
          </a:xfrm>
          <a:prstGeom prst="rect">
            <a:avLst/>
          </a:prstGeom>
          <a:ln>
            <a:noFill/>
          </a:ln>
        </p:spPr>
      </p:pic>
      <p:sp>
        <p:nvSpPr>
          <p:cNvPr id="344" name="CustomShape 1"/>
          <p:cNvSpPr/>
          <p:nvPr/>
        </p:nvSpPr>
        <p:spPr>
          <a:xfrm>
            <a:off x="838080" y="250920"/>
            <a:ext cx="8799840" cy="54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8000"/>
          </a:bodyPr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173F7E"/>
                </a:solidFill>
                <a:latin typeface="Century Gothic"/>
              </a:rPr>
              <a:t>Solve Problem </a:t>
            </a:r>
            <a:r>
              <a:rPr lang="en-US" sz="3200" b="1" spc="-1" dirty="0">
                <a:solidFill>
                  <a:srgbClr val="173F7E"/>
                </a:solidFill>
                <a:latin typeface="Century Gothic"/>
              </a:rPr>
              <a:t>using Cognitive Functions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345" name="CustomShape 2"/>
          <p:cNvSpPr/>
          <p:nvPr/>
        </p:nvSpPr>
        <p:spPr>
          <a:xfrm>
            <a:off x="7394760" y="6424560"/>
            <a:ext cx="4114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00" b="0" strike="noStrike" spc="-1" dirty="0">
              <a:latin typeface="Arial"/>
            </a:endParaRPr>
          </a:p>
        </p:txBody>
      </p:sp>
      <p:sp>
        <p:nvSpPr>
          <p:cNvPr id="346" name="CustomShape 3"/>
          <p:cNvSpPr/>
          <p:nvPr/>
        </p:nvSpPr>
        <p:spPr>
          <a:xfrm>
            <a:off x="11437920" y="6492960"/>
            <a:ext cx="753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C2865A2B-CF58-4AFD-A790-BEEC8D60CB86}" type="slidenum">
              <a:rPr lang="en-SG" sz="1000" b="0" strike="noStrike" spc="-1">
                <a:solidFill>
                  <a:srgbClr val="8B8B8B"/>
                </a:solidFill>
                <a:latin typeface="Arial"/>
              </a:rPr>
              <a:t>16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347" name="CustomShape 4"/>
          <p:cNvSpPr/>
          <p:nvPr/>
        </p:nvSpPr>
        <p:spPr>
          <a:xfrm>
            <a:off x="533520" y="961202"/>
            <a:ext cx="4068360" cy="5302440"/>
          </a:xfrm>
          <a:prstGeom prst="rect">
            <a:avLst/>
          </a:prstGeom>
          <a:noFill/>
          <a:ln w="9360">
            <a:solidFill>
              <a:schemeClr val="accen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5"/>
          <p:cNvSpPr/>
          <p:nvPr/>
        </p:nvSpPr>
        <p:spPr>
          <a:xfrm>
            <a:off x="681480" y="1137602"/>
            <a:ext cx="4700880" cy="5126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5500" lnSpcReduction="10000"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Aliens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Non Aliens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Which one is alien?</a:t>
            </a: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SG" sz="2000" b="1" strike="noStrike" spc="-1">
                <a:solidFill>
                  <a:srgbClr val="F58220"/>
                </a:solidFill>
                <a:latin typeface="Century Gothic"/>
                <a:ea typeface="DejaVu Sans"/>
              </a:rPr>
              <a:t>  A          B          C          D          E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49" name="CustomShape 6"/>
          <p:cNvSpPr/>
          <p:nvPr/>
        </p:nvSpPr>
        <p:spPr>
          <a:xfrm>
            <a:off x="4602600" y="953642"/>
            <a:ext cx="7466760" cy="531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pPr marL="571500" indent="-571500">
              <a:buFont typeface="+mj-lt"/>
              <a:buAutoNum type="arabicPeriod"/>
            </a:pPr>
            <a:r>
              <a:rPr lang="en-SG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Perceive</a:t>
            </a:r>
            <a:r>
              <a:rPr lang="en-SG" b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: Gather raw observable information, e.g. problem goal, type of known creatures, test creatures, decision/action required.</a:t>
            </a:r>
          </a:p>
          <a:p>
            <a:pPr marL="571500" indent="-571500">
              <a:buFont typeface="+mj-lt"/>
              <a:buAutoNum type="arabicPeriod"/>
            </a:pPr>
            <a:r>
              <a:rPr lang="en-SG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Recognise</a:t>
            </a:r>
            <a:r>
              <a:rPr lang="en-SG" b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: Recognise patterns and decomposed relevant information, e.g. different colours, triangle#, teeth#, and any more you can recognise?</a:t>
            </a:r>
          </a:p>
          <a:p>
            <a:pPr marL="571500" indent="-571500">
              <a:buFont typeface="+mj-lt"/>
              <a:buAutoNum type="arabicPeriod"/>
            </a:pPr>
            <a:r>
              <a:rPr lang="en-SG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Learn</a:t>
            </a:r>
            <a:r>
              <a:rPr lang="en-SG" b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: Invent hypothesis / candidate theories, e.g. </a:t>
            </a:r>
            <a:r>
              <a:rPr lang="en-SG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hypothesis 1: alien must has eyes &gt;=2 &amp; not in grey &amp; no horn</a:t>
            </a:r>
            <a:r>
              <a:rPr lang="en-SG" b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. (From 8 individual creatures, their recognised features &amp; target types to generalize/create new rules, which must be correct for the 8 creatures’ types, using supervised learning method.)</a:t>
            </a:r>
          </a:p>
          <a:p>
            <a:pPr marL="571500" indent="-571500">
              <a:buFont typeface="+mj-lt"/>
              <a:buAutoNum type="arabicPeriod"/>
            </a:pPr>
            <a:r>
              <a:rPr lang="en-SG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Reason</a:t>
            </a:r>
            <a:r>
              <a:rPr lang="en-SG" b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: Use test data to evaluate all hypotheses / candidate theories to obtain correct knowledge. (Use A-E test creatures to filter out correct knowledge/rules which can classify 5 creatures into 1 alien 4 non-aliens. As well as the single predicated alien based on newly learnt knowledge considered correct.)</a:t>
            </a:r>
          </a:p>
          <a:p>
            <a:pPr marL="571500" indent="-571500">
              <a:buFont typeface="+mj-lt"/>
              <a:buAutoNum type="arabicPeriod"/>
            </a:pPr>
            <a:r>
              <a:rPr lang="en-SG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Act</a:t>
            </a:r>
            <a:r>
              <a:rPr lang="en-SG" b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: Make choice, observe/bear consequences (scores).</a:t>
            </a:r>
          </a:p>
        </p:txBody>
      </p:sp>
    </p:spTree>
    <p:extLst>
      <p:ext uri="{BB962C8B-B14F-4D97-AF65-F5344CB8AC3E}">
        <p14:creationId xmlns:p14="http://schemas.microsoft.com/office/powerpoint/2010/main" val="175458565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10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10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1000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" dur="1000" fill="hold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1000" fill="hold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10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" dur="1000" fill="hold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" dur="10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1000" fill="hold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" dur="10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3" dur="1000" fill="hold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1000" fill="hold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44870" y="1189884"/>
            <a:ext cx="5302995" cy="53029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Rule Induction using Decision Tree </a:t>
            </a:r>
            <a:r>
              <a:rPr lang="en-SG" sz="2200" cap="all" dirty="0"/>
              <a:t>Identify Aliens</a:t>
            </a:r>
            <a:endParaRPr lang="en-GB" cap="al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17</a:t>
            </a:fld>
            <a:endParaRPr lang="en-SG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946234" y="1366220"/>
            <a:ext cx="8531714" cy="51266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2000" dirty="0"/>
              <a:t>Aliens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Not aliens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Which one is alien?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  A         B         C         D         E			</a:t>
            </a:r>
            <a:endParaRPr lang="en-SG" sz="15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49228" y="1936423"/>
          <a:ext cx="3657600" cy="1714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1469368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14829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333406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67116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307857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0079623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Triangle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Antenna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Teeth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Eyes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7415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3827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6865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4345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7629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945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9970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4535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71408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49228" y="4917369"/>
          <a:ext cx="3657600" cy="1143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59827258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294945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300809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3670698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2901039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2724483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Triangle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Antenna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Teeth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Eyes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5336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03637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043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9195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1676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66968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344871" y="1189884"/>
            <a:ext cx="10008930" cy="312500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344869" y="4397463"/>
            <a:ext cx="10008930" cy="194118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8280400" y="1571298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Training Data</a:t>
            </a:r>
            <a:endParaRPr lang="en-GB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84188" y="4548037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Data</a:t>
            </a:r>
            <a:endParaRPr lang="en-GB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585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18</a:t>
            </a:fld>
            <a:endParaRPr lang="en-SG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Rule Induction using Decision Tree </a:t>
            </a:r>
            <a:r>
              <a:rPr lang="en-SG" sz="2200" cap="all" dirty="0"/>
              <a:t>Identify Aliens</a:t>
            </a:r>
            <a:endParaRPr lang="en-GB" cap="all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35" y="1106514"/>
            <a:ext cx="7657519" cy="518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13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Rule Induction using Decision Tree </a:t>
            </a:r>
            <a:r>
              <a:rPr lang="en-SG" sz="2200" cap="all" dirty="0"/>
              <a:t>Identify Aliens</a:t>
            </a:r>
            <a:endParaRPr lang="en-GB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19</a:t>
            </a:fld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57" y="904929"/>
            <a:ext cx="7658097" cy="55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86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44870" y="1189884"/>
            <a:ext cx="5302995" cy="53029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Rule Induction using Decision Tree </a:t>
            </a:r>
            <a:r>
              <a:rPr lang="en-SG" sz="2200" cap="all" dirty="0"/>
              <a:t>Identify Aliens</a:t>
            </a:r>
            <a:endParaRPr lang="en-GB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20</a:t>
            </a:fld>
            <a:endParaRPr lang="en-SG" dirty="0"/>
          </a:p>
        </p:txBody>
      </p:sp>
      <p:sp>
        <p:nvSpPr>
          <p:cNvPr id="11" name="Rectangle 10"/>
          <p:cNvSpPr/>
          <p:nvPr/>
        </p:nvSpPr>
        <p:spPr>
          <a:xfrm>
            <a:off x="1344871" y="1189886"/>
            <a:ext cx="10092905" cy="530299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946234" y="1366220"/>
            <a:ext cx="8531714" cy="51266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2000" dirty="0"/>
              <a:t>Aliens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Not aliens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Which one is alien?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  A         B         C         D         E			</a:t>
            </a:r>
            <a:endParaRPr lang="en-SG" sz="15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427" y="1363700"/>
            <a:ext cx="5384374" cy="476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5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54" y="854079"/>
            <a:ext cx="8801100" cy="563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Rule Induction using Decision Tree </a:t>
            </a:r>
            <a:r>
              <a:rPr lang="en-SG" sz="2200" cap="all" dirty="0"/>
              <a:t>Identify Aliens</a:t>
            </a:r>
            <a:endParaRPr lang="en-GB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21</a:t>
            </a:fld>
            <a:endParaRPr lang="en-S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626" y="2592387"/>
            <a:ext cx="577215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6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44870" y="1189884"/>
            <a:ext cx="5302995" cy="53029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3" y="250833"/>
            <a:ext cx="8800551" cy="545561"/>
          </a:xfrm>
        </p:spPr>
        <p:txBody>
          <a:bodyPr>
            <a:normAutofit fontScale="90000"/>
          </a:bodyPr>
          <a:lstStyle/>
          <a:p>
            <a:r>
              <a:rPr lang="en-US" dirty="0"/>
              <a:t>Rule Induction using Decision Tree </a:t>
            </a:r>
            <a:r>
              <a:rPr lang="en-SG" sz="2200" cap="all" dirty="0"/>
              <a:t>Identify Aliens</a:t>
            </a:r>
            <a:endParaRPr lang="en-GB" cap="al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36988" y="6492879"/>
            <a:ext cx="4816813" cy="365125"/>
          </a:xfrm>
        </p:spPr>
        <p:txBody>
          <a:bodyPr/>
          <a:lstStyle/>
          <a:p>
            <a:pPr algn="l"/>
            <a:r>
              <a:rPr lang="en-SG" sz="1000" dirty="0"/>
              <a:t>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7776" y="6492879"/>
            <a:ext cx="754224" cy="365125"/>
          </a:xfrm>
        </p:spPr>
        <p:txBody>
          <a:bodyPr/>
          <a:lstStyle/>
          <a:p>
            <a:fld id="{2F63C605-4FC6-46DE-BC90-871762EA3F52}" type="slidenum">
              <a:rPr lang="en-SG" smtClean="0"/>
              <a:pPr/>
              <a:t>22</a:t>
            </a:fld>
            <a:endParaRPr lang="en-SG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1946234" y="1366220"/>
            <a:ext cx="8531714" cy="51266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7179" indent="-357179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F58220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804843" indent="-447663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2pPr>
            <a:lvl3pPr marL="1163610" indent="-358766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3pPr>
            <a:lvl4pPr marL="1520787" indent="-357179" algn="l" defTabSz="914377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─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2000" dirty="0"/>
              <a:t>Aliens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Not aliens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Which one is alien?</a:t>
            </a:r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endParaRPr lang="en-SG" sz="2000" dirty="0"/>
          </a:p>
          <a:p>
            <a:pPr marL="0" indent="0">
              <a:buNone/>
            </a:pPr>
            <a:r>
              <a:rPr lang="en-SG" sz="2000" dirty="0"/>
              <a:t>  A         B         C         D         E			F</a:t>
            </a:r>
            <a:endParaRPr lang="en-SG" sz="15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983" y="5171811"/>
            <a:ext cx="857250" cy="762000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8449968" y="5182569"/>
            <a:ext cx="3256837" cy="1076325"/>
          </a:xfrm>
          <a:prstGeom prst="wedgeRectCallout">
            <a:avLst>
              <a:gd name="adj1" fmla="val -61890"/>
              <a:gd name="adj2" fmla="val -1950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SG" dirty="0"/>
              <a:t>The </a:t>
            </a:r>
            <a:r>
              <a:rPr lang="en-S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‘black swan’</a:t>
            </a:r>
            <a:r>
              <a:rPr lang="en-SG" dirty="0"/>
              <a:t>: unseen before in historical data (no scenario/representation in training data)</a:t>
            </a:r>
            <a:endParaRPr lang="en-GB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628" y="985396"/>
            <a:ext cx="4133850" cy="3657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8691" y="1403526"/>
            <a:ext cx="2781300" cy="14287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40434" y="1503002"/>
          <a:ext cx="3657600" cy="13335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37875138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603509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0246698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506487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339577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5599759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Triangle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Antenna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Teeth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Eyes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832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228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099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707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2684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1908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 dirty="0">
                          <a:solidFill>
                            <a:schemeClr val="accent2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6307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48959" y="1133670"/>
            <a:ext cx="210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 Data</a:t>
            </a:r>
            <a:endParaRPr lang="en-GB" dirty="0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398" y="3327143"/>
            <a:ext cx="6210300" cy="152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16352" y="4595196"/>
            <a:ext cx="951223" cy="24642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211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6536880" y="6492960"/>
            <a:ext cx="481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00" b="0" strike="noStrike" spc="-1" dirty="0"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11437920" y="6492960"/>
            <a:ext cx="753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DCD33B6C-33F3-453A-B9A9-90A38083DB74}" type="slidenum">
              <a:rPr lang="en-SG" sz="1000" b="0" strike="noStrike" spc="-1">
                <a:solidFill>
                  <a:srgbClr val="8B8B8B"/>
                </a:solidFill>
                <a:latin typeface="Arial"/>
              </a:rPr>
              <a:t>23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AE30DD-8C6C-02B8-FE86-F4807849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96195" cy="6858000"/>
          </a:xfrm>
          <a:prstGeom prst="rect">
            <a:avLst/>
          </a:prstGeom>
        </p:spPr>
      </p:pic>
      <p:sp>
        <p:nvSpPr>
          <p:cNvPr id="4" name="CustomShape 6">
            <a:extLst>
              <a:ext uri="{FF2B5EF4-FFF2-40B4-BE49-F238E27FC236}">
                <a16:creationId xmlns:a16="http://schemas.microsoft.com/office/drawing/2014/main" id="{A78C65F1-B52F-C40F-C3B5-7F52FFACA137}"/>
              </a:ext>
            </a:extLst>
          </p:cNvPr>
          <p:cNvSpPr/>
          <p:nvPr/>
        </p:nvSpPr>
        <p:spPr>
          <a:xfrm>
            <a:off x="4602600" y="953642"/>
            <a:ext cx="7466760" cy="531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r>
              <a:rPr lang="en-SG" sz="2400" b="1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Which error type is mentioned by Ministry of Education?</a:t>
            </a:r>
          </a:p>
          <a:p>
            <a:endParaRPr lang="en-SG" sz="2400" b="1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914400" lvl="1" indent="-457200">
              <a:buFont typeface="+mj-lt"/>
              <a:buAutoNum type="alphaU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True Positive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False Positive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Ture Negative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SG" sz="2400" dirty="0">
                <a:solidFill>
                  <a:srgbClr val="002060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False Negative</a:t>
            </a:r>
          </a:p>
          <a:p>
            <a:endParaRPr lang="en-SG" sz="2400" b="1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endParaRPr lang="en-SG" sz="2400" b="1" dirty="0">
              <a:solidFill>
                <a:srgbClr val="002060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r>
              <a:rPr lang="en-SG" sz="2400" b="1" dirty="0">
                <a:solidFill>
                  <a:schemeClr val="accent6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Error 1 is:</a:t>
            </a:r>
          </a:p>
          <a:p>
            <a:endParaRPr lang="en-SG" sz="2400" b="1" dirty="0">
              <a:solidFill>
                <a:schemeClr val="accent6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endParaRPr lang="en-SG" sz="2400" b="1" dirty="0">
              <a:solidFill>
                <a:schemeClr val="accent6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r>
              <a:rPr lang="en-SG" sz="2400" b="1" dirty="0">
                <a:solidFill>
                  <a:schemeClr val="accent6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Error 2 is:</a:t>
            </a:r>
          </a:p>
          <a:p>
            <a:endParaRPr lang="en-SG" sz="2400" b="1" dirty="0">
              <a:solidFill>
                <a:schemeClr val="accent6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EE04A646-837A-D149-137C-539DB5666581}"/>
              </a:ext>
            </a:extLst>
          </p:cNvPr>
          <p:cNvSpPr/>
          <p:nvPr/>
        </p:nvSpPr>
        <p:spPr>
          <a:xfrm rot="19981675">
            <a:off x="2247271" y="3316326"/>
            <a:ext cx="296547" cy="177026"/>
          </a:xfrm>
          <a:prstGeom prst="lef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203B9C4E-8158-05CF-D100-E496746CFCC2}"/>
              </a:ext>
            </a:extLst>
          </p:cNvPr>
          <p:cNvSpPr/>
          <p:nvPr/>
        </p:nvSpPr>
        <p:spPr>
          <a:xfrm rot="19981675">
            <a:off x="1923683" y="6011504"/>
            <a:ext cx="296547" cy="177026"/>
          </a:xfrm>
          <a:prstGeom prst="lef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stomShape 6">
            <a:extLst>
              <a:ext uri="{FF2B5EF4-FFF2-40B4-BE49-F238E27FC236}">
                <a16:creationId xmlns:a16="http://schemas.microsoft.com/office/drawing/2014/main" id="{3B7CCAE8-ABCB-C095-6ECA-14040EAC17E7}"/>
              </a:ext>
            </a:extLst>
          </p:cNvPr>
          <p:cNvSpPr/>
          <p:nvPr/>
        </p:nvSpPr>
        <p:spPr>
          <a:xfrm>
            <a:off x="2535065" y="3221125"/>
            <a:ext cx="809268" cy="3577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r>
              <a:rPr lang="en-SG" sz="1400" b="1" dirty="0">
                <a:solidFill>
                  <a:schemeClr val="accent6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Error 1</a:t>
            </a:r>
            <a:endParaRPr lang="en-SG" sz="1400" dirty="0">
              <a:solidFill>
                <a:schemeClr val="accent6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ustomShape 6">
            <a:extLst>
              <a:ext uri="{FF2B5EF4-FFF2-40B4-BE49-F238E27FC236}">
                <a16:creationId xmlns:a16="http://schemas.microsoft.com/office/drawing/2014/main" id="{EACD400E-82C5-DAF2-9CDD-849E0717F2B3}"/>
              </a:ext>
            </a:extLst>
          </p:cNvPr>
          <p:cNvSpPr/>
          <p:nvPr/>
        </p:nvSpPr>
        <p:spPr>
          <a:xfrm>
            <a:off x="2198951" y="5903777"/>
            <a:ext cx="809268" cy="35774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r>
              <a:rPr lang="en-SG" sz="1400" b="1" dirty="0">
                <a:solidFill>
                  <a:schemeClr val="accent6"/>
                </a:solidFill>
                <a:latin typeface="Century Gothic" panose="020B0502020202020204" pitchFamily="34" charset="0"/>
                <a:cs typeface="Calibri" panose="020F0502020204030204" pitchFamily="34" charset="0"/>
              </a:rPr>
              <a:t>Error 2</a:t>
            </a:r>
            <a:endParaRPr lang="en-SG" sz="1400" dirty="0">
              <a:solidFill>
                <a:schemeClr val="accent6"/>
              </a:solidFill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423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CustomShape 1"/>
          <p:cNvSpPr/>
          <p:nvPr/>
        </p:nvSpPr>
        <p:spPr>
          <a:xfrm>
            <a:off x="6536880" y="6492960"/>
            <a:ext cx="4816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000" b="0" strike="noStrike" spc="-1" dirty="0">
              <a:latin typeface="Arial"/>
            </a:endParaRPr>
          </a:p>
        </p:txBody>
      </p:sp>
      <p:sp>
        <p:nvSpPr>
          <p:cNvPr id="1504" name="CustomShape 2"/>
          <p:cNvSpPr/>
          <p:nvPr/>
        </p:nvSpPr>
        <p:spPr>
          <a:xfrm>
            <a:off x="11437920" y="6492960"/>
            <a:ext cx="7534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</a:pPr>
            <a:fld id="{FFAFB4AD-828A-4AC3-B951-7539F8B5A3C7}" type="slidenum">
              <a:rPr lang="en-SG" sz="1000" b="0" strike="noStrike" spc="-1">
                <a:solidFill>
                  <a:srgbClr val="8B8B8B"/>
                </a:solidFill>
                <a:latin typeface="Arial"/>
              </a:rPr>
              <a:t>24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1505" name="CustomShape 3"/>
          <p:cNvSpPr/>
          <p:nvPr/>
        </p:nvSpPr>
        <p:spPr>
          <a:xfrm>
            <a:off x="984600" y="3078000"/>
            <a:ext cx="9881280" cy="127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en-US" sz="4000" b="1" spc="-1" dirty="0">
                <a:solidFill>
                  <a:srgbClr val="173F7E"/>
                </a:solidFill>
                <a:latin typeface="Century Gothic"/>
              </a:rPr>
              <a:t>The End, is the New Start.</a:t>
            </a:r>
            <a:endParaRPr lang="en-US" sz="4000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1306</Words>
  <Application>Microsoft Macintosh PowerPoint</Application>
  <PresentationFormat>Widescreen</PresentationFormat>
  <Paragraphs>372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Century Gothic</vt:lpstr>
      <vt:lpstr>Office Theme</vt:lpstr>
      <vt:lpstr>Decision Tree</vt:lpstr>
      <vt:lpstr>Decision Tree for fruit classification</vt:lpstr>
      <vt:lpstr>What is Decision Tree?</vt:lpstr>
      <vt:lpstr>Rule Induction using Decision Tree</vt:lpstr>
      <vt:lpstr>Rule Induction using Decision Tree</vt:lpstr>
      <vt:lpstr>Rule Induction using Decision Tree</vt:lpstr>
      <vt:lpstr>Rule Induction using Decision Tree</vt:lpstr>
      <vt:lpstr>Rule Induction using Decision Tree</vt:lpstr>
      <vt:lpstr>Rule Induction using Decision Tree</vt:lpstr>
      <vt:lpstr>Rule Induction using Decision Tree</vt:lpstr>
      <vt:lpstr>Rule Induction using Decision Tree</vt:lpstr>
      <vt:lpstr>Rule Induction using Decision Tree</vt:lpstr>
      <vt:lpstr>Rule Induction using Decision Tree</vt:lpstr>
      <vt:lpstr>PowerPoint Presentation</vt:lpstr>
      <vt:lpstr>PowerPoint Presentation</vt:lpstr>
      <vt:lpstr>PowerPoint Presentation</vt:lpstr>
      <vt:lpstr>Rule Induction using Decision Tree Identify Aliens</vt:lpstr>
      <vt:lpstr>Rule Induction using Decision Tree Identify Aliens</vt:lpstr>
      <vt:lpstr>Rule Induction using Decision Tree Identify Aliens</vt:lpstr>
      <vt:lpstr>Rule Induction using Decision Tree Identify Aliens</vt:lpstr>
      <vt:lpstr>Rule Induction using Decision Tree Identify Aliens</vt:lpstr>
      <vt:lpstr>Rule Induction using Decision Tree Identify Aliens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Presenatation Title</dc:title>
  <dc:creator>B Elzer</dc:creator>
  <cp:lastModifiedBy>Sam GU</cp:lastModifiedBy>
  <cp:revision>164</cp:revision>
  <cp:lastPrinted>2019-08-01T09:00:08Z</cp:lastPrinted>
  <dcterms:created xsi:type="dcterms:W3CDTF">2017-05-14T01:29:56Z</dcterms:created>
  <dcterms:modified xsi:type="dcterms:W3CDTF">2025-01-20T05:03:47Z</dcterms:modified>
</cp:coreProperties>
</file>